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75" r:id="rId8"/>
    <p:sldId id="262" r:id="rId9"/>
    <p:sldId id="263" r:id="rId10"/>
    <p:sldId id="264" r:id="rId11"/>
    <p:sldId id="265" r:id="rId12"/>
    <p:sldId id="266" r:id="rId13"/>
    <p:sldId id="268" r:id="rId14"/>
    <p:sldId id="273" r:id="rId15"/>
    <p:sldId id="274" r:id="rId16"/>
    <p:sldId id="269" r:id="rId17"/>
    <p:sldId id="270" r:id="rId18"/>
    <p:sldId id="271" r:id="rId19"/>
  </p:sldIdLst>
  <p:sldSz cx="12192000" cy="6858000"/>
  <p:notesSz cx="7315200" cy="9601200"/>
  <p:embeddedFontLst>
    <p:embeddedFont>
      <p:font typeface="Arial Black" panose="020B0A04020102020204" pitchFamily="34" charset="0"/>
      <p:regular r:id="rId21"/>
      <p:bold r:id="rId22"/>
    </p:embeddedFont>
    <p:embeddedFont>
      <p:font typeface="Comfortaa" panose="020B060402020202020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j76Lht5Uc4AZ5I/xECbcxdhfij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B4C0F5-4AC5-4D70-A9AF-58BBCE590B7C}" v="1" dt="2026-10-10T08:30:04.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ev vashisth" userId="181e4ff024504d42" providerId="LiveId" clId="{8FB4C0F5-4AC5-4D70-A9AF-58BBCE590B7C}"/>
    <pc:docChg chg="undo custSel addSld modSld">
      <pc:chgData name="kartev vashisth" userId="181e4ff024504d42" providerId="LiveId" clId="{8FB4C0F5-4AC5-4D70-A9AF-58BBCE590B7C}" dt="2026-10-10T08:31:05.117" v="138" actId="20577"/>
      <pc:docMkLst>
        <pc:docMk/>
      </pc:docMkLst>
      <pc:sldChg chg="modSp mod">
        <pc:chgData name="kartev vashisth" userId="181e4ff024504d42" providerId="LiveId" clId="{8FB4C0F5-4AC5-4D70-A9AF-58BBCE590B7C}" dt="2026-10-10T08:29:52.988" v="96" actId="20577"/>
        <pc:sldMkLst>
          <pc:docMk/>
          <pc:sldMk cId="0" sldId="261"/>
        </pc:sldMkLst>
        <pc:spChg chg="mod">
          <ac:chgData name="kartev vashisth" userId="181e4ff024504d42" providerId="LiveId" clId="{8FB4C0F5-4AC5-4D70-A9AF-58BBCE590B7C}" dt="2026-10-10T08:29:52.988" v="96" actId="20577"/>
          <ac:spMkLst>
            <pc:docMk/>
            <pc:sldMk cId="0" sldId="261"/>
            <ac:spMk id="147" creationId="{00000000-0000-0000-0000-000000000000}"/>
          </ac:spMkLst>
        </pc:spChg>
        <pc:spChg chg="mod">
          <ac:chgData name="kartev vashisth" userId="181e4ff024504d42" providerId="LiveId" clId="{8FB4C0F5-4AC5-4D70-A9AF-58BBCE590B7C}" dt="2026-10-10T08:29:00.902" v="9" actId="20577"/>
          <ac:spMkLst>
            <pc:docMk/>
            <pc:sldMk cId="0" sldId="261"/>
            <ac:spMk id="150" creationId="{00000000-0000-0000-0000-000000000000}"/>
          </ac:spMkLst>
        </pc:spChg>
      </pc:sldChg>
      <pc:sldChg chg="modSp add mod">
        <pc:chgData name="kartev vashisth" userId="181e4ff024504d42" providerId="LiveId" clId="{8FB4C0F5-4AC5-4D70-A9AF-58BBCE590B7C}" dt="2026-10-10T08:31:05.117" v="138" actId="20577"/>
        <pc:sldMkLst>
          <pc:docMk/>
          <pc:sldMk cId="2543971562" sldId="275"/>
        </pc:sldMkLst>
        <pc:spChg chg="mod">
          <ac:chgData name="kartev vashisth" userId="181e4ff024504d42" providerId="LiveId" clId="{8FB4C0F5-4AC5-4D70-A9AF-58BBCE590B7C}" dt="2026-10-10T08:31:05.117" v="138" actId="20577"/>
          <ac:spMkLst>
            <pc:docMk/>
            <pc:sldMk cId="2543971562" sldId="275"/>
            <ac:spMk id="15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GB"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45" name="Google Shape;145;p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45" name="Google Shape;145;p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8537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53" name="Google Shape;153;p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59" name="Google Shape;159;p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65" name="Google Shape;165;p1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1: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71" name="Google Shape;171;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8:notes"/>
          <p:cNvSpPr txBox="1">
            <a:spLocks noGrp="1"/>
          </p:cNvSpPr>
          <p:nvPr>
            <p:ph type="body" idx="1"/>
          </p:nvPr>
        </p:nvSpPr>
        <p:spPr>
          <a:xfrm>
            <a:off x="731520" y="4620577"/>
            <a:ext cx="5852100" cy="378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77" name="Google Shape;177;p1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0:notes"/>
          <p:cNvSpPr txBox="1">
            <a:spLocks noGrp="1"/>
          </p:cNvSpPr>
          <p:nvPr>
            <p:ph type="body" idx="1"/>
          </p:nvPr>
        </p:nvSpPr>
        <p:spPr>
          <a:xfrm>
            <a:off x="731520" y="4620577"/>
            <a:ext cx="5852100" cy="378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89" name="Google Shape;189;p2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0:notes"/>
          <p:cNvSpPr txBox="1">
            <a:spLocks noGrp="1"/>
          </p:cNvSpPr>
          <p:nvPr>
            <p:ph type="body" idx="1"/>
          </p:nvPr>
        </p:nvSpPr>
        <p:spPr>
          <a:xfrm>
            <a:off x="731520" y="4620577"/>
            <a:ext cx="5852100" cy="378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89" name="Google Shape;189;p2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9123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0:notes"/>
          <p:cNvSpPr txBox="1">
            <a:spLocks noGrp="1"/>
          </p:cNvSpPr>
          <p:nvPr>
            <p:ph type="body" idx="1"/>
          </p:nvPr>
        </p:nvSpPr>
        <p:spPr>
          <a:xfrm>
            <a:off x="731520" y="4620577"/>
            <a:ext cx="5852100" cy="378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89" name="Google Shape;189;p2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569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2: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95" name="Google Shape;195;p2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3: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03" name="Google Shape;203;p2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4: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2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2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 name="Google Shape;2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4"/>
          <p:cNvSpPr>
            <a:spLocks noGrp="1"/>
          </p:cNvSpPr>
          <p:nvPr>
            <p:ph type="pic" idx="2"/>
          </p:nvPr>
        </p:nvSpPr>
        <p:spPr>
          <a:xfrm>
            <a:off x="5183188" y="987425"/>
            <a:ext cx="6172200" cy="4873625"/>
          </a:xfrm>
          <a:prstGeom prst="rect">
            <a:avLst/>
          </a:prstGeom>
          <a:noFill/>
          <a:ln>
            <a:noFill/>
          </a:ln>
        </p:spPr>
      </p:sp>
      <p:sp>
        <p:nvSpPr>
          <p:cNvPr id="68" name="Google Shape;68;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7.jpg"/><Relationship Id="rId12"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jpg"/><Relationship Id="rId5" Type="http://schemas.openxmlformats.org/officeDocument/2006/relationships/image" Target="../media/image5.jpg"/><Relationship Id="rId10" Type="http://schemas.openxmlformats.org/officeDocument/2006/relationships/image" Target="../media/image10.jpg"/><Relationship Id="rId4" Type="http://schemas.openxmlformats.org/officeDocument/2006/relationships/image" Target="../media/image4.jp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8311836" y="4698185"/>
            <a:ext cx="3398293" cy="122084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000" b="1" i="0" u="none" strike="noStrike" cap="none" dirty="0">
                <a:solidFill>
                  <a:schemeClr val="dk1"/>
                </a:solidFill>
                <a:latin typeface="Times New Roman"/>
                <a:ea typeface="Times New Roman"/>
                <a:cs typeface="Times New Roman"/>
                <a:sym typeface="Times New Roman"/>
              </a:rPr>
              <a:t>Submitted By:</a:t>
            </a:r>
            <a:endParaRPr sz="20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800"/>
              </a:spcBef>
              <a:spcAft>
                <a:spcPts val="0"/>
              </a:spcAft>
              <a:buNone/>
            </a:pPr>
            <a:r>
              <a:rPr lang="en-GB" sz="2000" b="1" i="0" u="none" strike="noStrike" cap="none" dirty="0">
                <a:solidFill>
                  <a:schemeClr val="dk1"/>
                </a:solidFill>
                <a:latin typeface="Times New Roman"/>
                <a:ea typeface="Times New Roman"/>
                <a:cs typeface="Times New Roman"/>
                <a:sym typeface="Times New Roman"/>
              </a:rPr>
              <a:t>Name:-Kartev Vashisth</a:t>
            </a:r>
            <a:endParaRPr dirty="0"/>
          </a:p>
          <a:p>
            <a:pPr marL="0" marR="0" lvl="0" indent="0" algn="just" rtl="0">
              <a:spcBef>
                <a:spcPts val="800"/>
              </a:spcBef>
              <a:spcAft>
                <a:spcPts val="0"/>
              </a:spcAft>
              <a:buNone/>
            </a:pPr>
            <a:r>
              <a:rPr lang="en-GB" sz="2000" b="1" i="0" u="none" strike="noStrike" cap="none" dirty="0">
                <a:solidFill>
                  <a:schemeClr val="dk1"/>
                </a:solidFill>
                <a:latin typeface="Times New Roman"/>
                <a:ea typeface="Times New Roman"/>
                <a:cs typeface="Times New Roman"/>
                <a:sym typeface="Times New Roman"/>
              </a:rPr>
              <a:t>Roll No.:- 23ESKC049</a:t>
            </a:r>
            <a:endParaRPr sz="2000" b="0" i="0" u="none" strike="noStrike" cap="none" dirty="0">
              <a:solidFill>
                <a:schemeClr val="dk1"/>
              </a:solidFill>
              <a:latin typeface="Times New Roman"/>
              <a:ea typeface="Times New Roman"/>
              <a:cs typeface="Times New Roman"/>
              <a:sym typeface="Times New Roman"/>
            </a:endParaRPr>
          </a:p>
        </p:txBody>
      </p:sp>
      <p:sp>
        <p:nvSpPr>
          <p:cNvPr id="89" name="Google Shape;89;p1"/>
          <p:cNvSpPr/>
          <p:nvPr/>
        </p:nvSpPr>
        <p:spPr>
          <a:xfrm>
            <a:off x="4572334" y="1374826"/>
            <a:ext cx="3224472"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800" b="1" i="0" u="none" strike="noStrike" cap="none" dirty="0">
                <a:solidFill>
                  <a:srgbClr val="0F0F0F"/>
                </a:solidFill>
                <a:latin typeface="Times New Roman"/>
                <a:ea typeface="Times New Roman"/>
                <a:cs typeface="Times New Roman"/>
                <a:sym typeface="Times New Roman"/>
              </a:rPr>
              <a:t>Industrial Training </a:t>
            </a:r>
            <a:endParaRPr dirty="0"/>
          </a:p>
          <a:p>
            <a:pPr marL="0" marR="0" lvl="0" indent="0" algn="ctr" rtl="0">
              <a:spcBef>
                <a:spcPts val="0"/>
              </a:spcBef>
              <a:spcAft>
                <a:spcPts val="0"/>
              </a:spcAft>
              <a:buNone/>
            </a:pPr>
            <a:r>
              <a:rPr lang="en-GB" sz="2800" b="1" i="0" u="none" strike="noStrike" cap="none" dirty="0">
                <a:solidFill>
                  <a:srgbClr val="0F0F0F"/>
                </a:solidFill>
                <a:latin typeface="Times New Roman"/>
                <a:ea typeface="Times New Roman"/>
                <a:cs typeface="Times New Roman"/>
                <a:sym typeface="Times New Roman"/>
              </a:rPr>
              <a:t>Presentation</a:t>
            </a:r>
            <a:endParaRPr sz="2800" b="1" i="0" u="none" strike="noStrike" cap="none" dirty="0">
              <a:solidFill>
                <a:schemeClr val="dk1"/>
              </a:solidFill>
              <a:latin typeface="Times New Roman"/>
              <a:ea typeface="Times New Roman"/>
              <a:cs typeface="Times New Roman"/>
              <a:sym typeface="Times New Roman"/>
            </a:endParaRPr>
          </a:p>
        </p:txBody>
      </p:sp>
      <p:pic>
        <p:nvPicPr>
          <p:cNvPr id="90" name="Google Shape;90;p1" descr="https://www.skit.ac.in/images/headers/skit_logo.png"/>
          <p:cNvPicPr preferRelativeResize="0"/>
          <p:nvPr/>
        </p:nvPicPr>
        <p:blipFill rotWithShape="1">
          <a:blip r:embed="rId3">
            <a:alphaModFix/>
          </a:blip>
          <a:srcRect/>
          <a:stretch/>
        </p:blipFill>
        <p:spPr>
          <a:xfrm>
            <a:off x="353473" y="174676"/>
            <a:ext cx="1133475" cy="1200150"/>
          </a:xfrm>
          <a:prstGeom prst="rect">
            <a:avLst/>
          </a:prstGeom>
          <a:noFill/>
          <a:ln>
            <a:noFill/>
          </a:ln>
        </p:spPr>
      </p:pic>
      <p:sp>
        <p:nvSpPr>
          <p:cNvPr id="91" name="Google Shape;91;p1"/>
          <p:cNvSpPr/>
          <p:nvPr/>
        </p:nvSpPr>
        <p:spPr>
          <a:xfrm>
            <a:off x="1125277" y="314579"/>
            <a:ext cx="10379786"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i="0" u="none" strike="noStrike" cap="none">
                <a:solidFill>
                  <a:srgbClr val="C00000"/>
                </a:solidFill>
                <a:latin typeface="Times New Roman"/>
                <a:ea typeface="Times New Roman"/>
                <a:cs typeface="Times New Roman"/>
                <a:sym typeface="Times New Roman"/>
              </a:rPr>
              <a:t>Swami Keshvanand Institute of Technology, Management &amp; Gramothan, Jaipur</a:t>
            </a:r>
            <a:endParaRPr/>
          </a:p>
          <a:p>
            <a:pPr marL="0" marR="0" lvl="0" indent="0" algn="ctr" rtl="0">
              <a:spcBef>
                <a:spcPts val="0"/>
              </a:spcBef>
              <a:spcAft>
                <a:spcPts val="0"/>
              </a:spcAft>
              <a:buNone/>
            </a:pPr>
            <a:r>
              <a:rPr lang="en-GB" sz="1800" b="1" i="0" u="none" strike="noStrike" cap="none">
                <a:solidFill>
                  <a:srgbClr val="C00000"/>
                </a:solidFill>
                <a:latin typeface="Times New Roman"/>
                <a:ea typeface="Times New Roman"/>
                <a:cs typeface="Times New Roman"/>
                <a:sym typeface="Times New Roman"/>
              </a:rPr>
              <a:t>(An Autonomous Institute Affiliated to Rajasthan Technical University, Kota)</a:t>
            </a:r>
            <a:endParaRPr/>
          </a:p>
        </p:txBody>
      </p:sp>
      <p:sp>
        <p:nvSpPr>
          <p:cNvPr id="92" name="Google Shape;92;p1"/>
          <p:cNvSpPr/>
          <p:nvPr/>
        </p:nvSpPr>
        <p:spPr>
          <a:xfrm>
            <a:off x="353473" y="4698185"/>
            <a:ext cx="3398293" cy="122084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000" b="1" i="0" u="none" strike="noStrike" cap="none" dirty="0">
                <a:solidFill>
                  <a:schemeClr val="dk1"/>
                </a:solidFill>
                <a:latin typeface="Times New Roman"/>
                <a:ea typeface="Times New Roman"/>
                <a:cs typeface="Times New Roman"/>
                <a:sym typeface="Times New Roman"/>
              </a:rPr>
              <a:t>Submitted To:</a:t>
            </a:r>
            <a:endParaRPr sz="20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800"/>
              </a:spcBef>
              <a:spcAft>
                <a:spcPts val="0"/>
              </a:spcAft>
              <a:buNone/>
            </a:pPr>
            <a:r>
              <a:rPr lang="en-GB" sz="2000" b="1" i="0" u="none" strike="noStrike" cap="none" dirty="0">
                <a:solidFill>
                  <a:schemeClr val="dk1"/>
                </a:solidFill>
                <a:latin typeface="Times New Roman"/>
                <a:ea typeface="Times New Roman"/>
                <a:cs typeface="Times New Roman"/>
                <a:sym typeface="Times New Roman"/>
              </a:rPr>
              <a:t>Name:- Mr. </a:t>
            </a:r>
            <a:r>
              <a:rPr lang="en-GB" sz="2000" b="1" i="0" u="none" strike="noStrike" cap="none" dirty="0" err="1">
                <a:solidFill>
                  <a:schemeClr val="dk1"/>
                </a:solidFill>
                <a:latin typeface="Times New Roman"/>
                <a:ea typeface="Times New Roman"/>
                <a:cs typeface="Times New Roman"/>
                <a:sym typeface="Times New Roman"/>
              </a:rPr>
              <a:t>Shivank</a:t>
            </a:r>
            <a:r>
              <a:rPr lang="en-GB" sz="2000" b="1" i="0" u="none" strike="noStrike" cap="none" dirty="0">
                <a:solidFill>
                  <a:schemeClr val="dk1"/>
                </a:solidFill>
                <a:latin typeface="Times New Roman"/>
                <a:ea typeface="Times New Roman"/>
                <a:cs typeface="Times New Roman"/>
                <a:sym typeface="Times New Roman"/>
              </a:rPr>
              <a:t> </a:t>
            </a:r>
            <a:r>
              <a:rPr lang="en-GB" sz="2000" b="1" i="0" u="none" strike="noStrike" cap="none" dirty="0" err="1">
                <a:solidFill>
                  <a:schemeClr val="dk1"/>
                </a:solidFill>
                <a:latin typeface="Times New Roman"/>
                <a:ea typeface="Times New Roman"/>
                <a:cs typeface="Times New Roman"/>
                <a:sym typeface="Times New Roman"/>
              </a:rPr>
              <a:t>Lavania</a:t>
            </a:r>
            <a:endParaRPr dirty="0"/>
          </a:p>
          <a:p>
            <a:pPr marL="0" marR="0" lvl="0" indent="0" algn="just" rtl="0">
              <a:spcBef>
                <a:spcPts val="800"/>
              </a:spcBef>
              <a:spcAft>
                <a:spcPts val="0"/>
              </a:spcAft>
              <a:buNone/>
            </a:pPr>
            <a:r>
              <a:rPr lang="en-GB" sz="2000" b="1" i="0" u="none" strike="noStrike" cap="none" dirty="0">
                <a:solidFill>
                  <a:schemeClr val="dk1"/>
                </a:solidFill>
                <a:latin typeface="Times New Roman"/>
                <a:ea typeface="Times New Roman"/>
                <a:cs typeface="Times New Roman"/>
                <a:sym typeface="Times New Roman"/>
              </a:rPr>
              <a:t>Assistant Professor</a:t>
            </a:r>
            <a:endParaRPr dirty="0"/>
          </a:p>
        </p:txBody>
      </p:sp>
      <p:sp>
        <p:nvSpPr>
          <p:cNvPr id="93" name="Google Shape;93;p1"/>
          <p:cNvSpPr/>
          <p:nvPr/>
        </p:nvSpPr>
        <p:spPr>
          <a:xfrm>
            <a:off x="3156325" y="2603225"/>
            <a:ext cx="5835275"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i="0" strike="noStrike" cap="none" dirty="0">
                <a:solidFill>
                  <a:srgbClr val="0F0F0F"/>
                </a:solidFill>
                <a:latin typeface="Arial Black"/>
                <a:ea typeface="Arial Black"/>
                <a:cs typeface="Arial Black"/>
                <a:sym typeface="Arial Black"/>
              </a:rPr>
              <a:t>TOPIC</a:t>
            </a:r>
            <a:r>
              <a:rPr lang="en-GB" sz="2000" dirty="0">
                <a:solidFill>
                  <a:srgbClr val="0F0F0F"/>
                </a:solidFill>
                <a:latin typeface="Arial Black"/>
                <a:ea typeface="Arial Black"/>
                <a:cs typeface="Arial Black"/>
                <a:sym typeface="Arial Black"/>
              </a:rPr>
              <a:t>:</a:t>
            </a:r>
          </a:p>
          <a:p>
            <a:pPr marL="0" marR="0" lvl="0" indent="0" algn="ctr" rtl="0">
              <a:spcBef>
                <a:spcPts val="0"/>
              </a:spcBef>
              <a:spcAft>
                <a:spcPts val="0"/>
              </a:spcAft>
              <a:buNone/>
            </a:pPr>
            <a:r>
              <a:rPr lang="en-GB" sz="2000" dirty="0">
                <a:solidFill>
                  <a:srgbClr val="0F0F0F"/>
                </a:solidFill>
                <a:latin typeface="Arial Black"/>
                <a:ea typeface="Arial Black"/>
                <a:cs typeface="Arial Black"/>
                <a:sym typeface="Arial Black"/>
              </a:rPr>
              <a:t> AI Job Market Intelligence Platform</a:t>
            </a:r>
            <a:endParaRPr sz="2000" i="1" strike="noStrike" cap="none" dirty="0">
              <a:solidFill>
                <a:schemeClr val="dk1"/>
              </a:solidFill>
              <a:latin typeface="Arial Black"/>
              <a:ea typeface="Arial Black"/>
              <a:cs typeface="Arial Black"/>
              <a:sym typeface="Arial Black"/>
            </a:endParaRPr>
          </a:p>
        </p:txBody>
      </p:sp>
      <p:pic>
        <p:nvPicPr>
          <p:cNvPr id="94" name="Google Shape;94;p1" descr="https://www.skit.ac.in/images/headers/swamiji_photo.png"/>
          <p:cNvPicPr preferRelativeResize="0"/>
          <p:nvPr/>
        </p:nvPicPr>
        <p:blipFill rotWithShape="1">
          <a:blip r:embed="rId4">
            <a:alphaModFix/>
          </a:blip>
          <a:srcRect/>
          <a:stretch/>
        </p:blipFill>
        <p:spPr>
          <a:xfrm>
            <a:off x="10970907" y="174677"/>
            <a:ext cx="739222" cy="1200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p:nvPr/>
        </p:nvSpPr>
        <p:spPr>
          <a:xfrm>
            <a:off x="2260979" y="218308"/>
            <a:ext cx="9417269" cy="6619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GB" sz="3200" b="1" i="0" u="none" strike="noStrike" cap="none">
                <a:solidFill>
                  <a:schemeClr val="lt1"/>
                </a:solidFill>
                <a:latin typeface="Times New Roman"/>
                <a:ea typeface="Times New Roman"/>
                <a:cs typeface="Times New Roman"/>
                <a:sym typeface="Times New Roman"/>
              </a:rPr>
              <a:t>Index</a:t>
            </a:r>
            <a:endParaRPr sz="3200" b="1" i="0" u="none" strike="noStrike" cap="none">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endParaRPr sz="2800" b="1" i="0" u="none" strike="noStrike" cap="none">
              <a:solidFill>
                <a:schemeClr val="lt1"/>
              </a:solidFill>
              <a:latin typeface="Times New Roman"/>
              <a:ea typeface="Times New Roman"/>
              <a:cs typeface="Times New Roman"/>
              <a:sym typeface="Times New Roman"/>
            </a:endParaRPr>
          </a:p>
        </p:txBody>
      </p:sp>
      <p:sp>
        <p:nvSpPr>
          <p:cNvPr id="100" name="Google Shape;100;p2"/>
          <p:cNvSpPr/>
          <p:nvPr/>
        </p:nvSpPr>
        <p:spPr>
          <a:xfrm>
            <a:off x="0" y="6615113"/>
            <a:ext cx="12192000" cy="2301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200" b="1" i="0" u="none" strike="noStrike" cap="none">
                <a:solidFill>
                  <a:schemeClr val="lt1"/>
                </a:solidFill>
                <a:latin typeface="Calibri"/>
                <a:ea typeface="Calibri"/>
                <a:cs typeface="Calibri"/>
                <a:sym typeface="Calibri"/>
              </a:rPr>
              <a:t>SKIT, JAIPUR										                                              www.skit.ac.in</a:t>
            </a:r>
            <a:endParaRPr/>
          </a:p>
        </p:txBody>
      </p:sp>
      <p:pic>
        <p:nvPicPr>
          <p:cNvPr id="101" name="Google Shape;101;p2" descr="https://www.skit.ac.in/images/headers/skit_logo.png"/>
          <p:cNvPicPr preferRelativeResize="0"/>
          <p:nvPr/>
        </p:nvPicPr>
        <p:blipFill rotWithShape="1">
          <a:blip r:embed="rId3">
            <a:alphaModFix/>
          </a:blip>
          <a:srcRect/>
          <a:stretch/>
        </p:blipFill>
        <p:spPr>
          <a:xfrm>
            <a:off x="353473" y="174676"/>
            <a:ext cx="1133475" cy="1200150"/>
          </a:xfrm>
          <a:prstGeom prst="rect">
            <a:avLst/>
          </a:prstGeom>
          <a:noFill/>
          <a:ln>
            <a:noFill/>
          </a:ln>
        </p:spPr>
      </p:pic>
      <p:sp>
        <p:nvSpPr>
          <p:cNvPr id="102" name="Google Shape;102;p2"/>
          <p:cNvSpPr/>
          <p:nvPr/>
        </p:nvSpPr>
        <p:spPr>
          <a:xfrm>
            <a:off x="2408573" y="979040"/>
            <a:ext cx="6924270" cy="609397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rgbClr val="0F0F0F"/>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F0F0F"/>
              </a:buClr>
              <a:buSzPts val="2800"/>
              <a:buFont typeface="Calibri"/>
              <a:buAutoNum type="arabicPeriod"/>
            </a:pPr>
            <a:r>
              <a:rPr lang="en-GB" sz="2800" b="1">
                <a:solidFill>
                  <a:srgbClr val="0F0F0F"/>
                </a:solidFill>
                <a:latin typeface="Times New Roman"/>
                <a:ea typeface="Times New Roman"/>
                <a:cs typeface="Times New Roman"/>
                <a:sym typeface="Times New Roman"/>
              </a:rPr>
              <a:t>Company Introduction</a:t>
            </a:r>
            <a:endParaRPr/>
          </a:p>
          <a:p>
            <a:pPr marL="342900" marR="0" lvl="0" indent="-342900" algn="l" rtl="0">
              <a:lnSpc>
                <a:spcPct val="150000"/>
              </a:lnSpc>
              <a:spcBef>
                <a:spcPts val="0"/>
              </a:spcBef>
              <a:spcAft>
                <a:spcPts val="0"/>
              </a:spcAft>
              <a:buClr>
                <a:srgbClr val="0F0F0F"/>
              </a:buClr>
              <a:buSzPts val="2800"/>
              <a:buFont typeface="Calibri"/>
              <a:buAutoNum type="arabicPeriod"/>
            </a:pPr>
            <a:r>
              <a:rPr lang="en-GB" sz="2800" b="1">
                <a:solidFill>
                  <a:srgbClr val="0F0F0F"/>
                </a:solidFill>
                <a:latin typeface="Times New Roman"/>
                <a:ea typeface="Times New Roman"/>
                <a:cs typeface="Times New Roman"/>
                <a:sym typeface="Times New Roman"/>
              </a:rPr>
              <a:t>Certificate</a:t>
            </a:r>
            <a:endParaRPr/>
          </a:p>
          <a:p>
            <a:pPr marL="342900" marR="0" lvl="0" indent="-342900" algn="l" rtl="0">
              <a:lnSpc>
                <a:spcPct val="150000"/>
              </a:lnSpc>
              <a:spcBef>
                <a:spcPts val="0"/>
              </a:spcBef>
              <a:spcAft>
                <a:spcPts val="0"/>
              </a:spcAft>
              <a:buClr>
                <a:srgbClr val="0F0F0F"/>
              </a:buClr>
              <a:buSzPts val="2800"/>
              <a:buFont typeface="Calibri"/>
              <a:buAutoNum type="arabicPeriod"/>
            </a:pPr>
            <a:r>
              <a:rPr lang="en-GB" sz="2800" b="1">
                <a:solidFill>
                  <a:srgbClr val="0F0F0F"/>
                </a:solidFill>
                <a:latin typeface="Times New Roman"/>
                <a:ea typeface="Times New Roman"/>
                <a:cs typeface="Times New Roman"/>
                <a:sym typeface="Times New Roman"/>
              </a:rPr>
              <a:t>Technology Used</a:t>
            </a:r>
            <a:endParaRPr/>
          </a:p>
          <a:p>
            <a:pPr marL="342900" marR="0" lvl="0" indent="-342900" algn="l" rtl="0">
              <a:lnSpc>
                <a:spcPct val="150000"/>
              </a:lnSpc>
              <a:spcBef>
                <a:spcPts val="0"/>
              </a:spcBef>
              <a:spcAft>
                <a:spcPts val="0"/>
              </a:spcAft>
              <a:buClr>
                <a:schemeClr val="dk1"/>
              </a:buClr>
              <a:buSzPts val="2800"/>
              <a:buFont typeface="Calibri"/>
              <a:buAutoNum type="arabicPeriod"/>
            </a:pPr>
            <a:r>
              <a:rPr lang="en-GB" sz="2800" b="1">
                <a:solidFill>
                  <a:schemeClr val="dk1"/>
                </a:solidFill>
                <a:latin typeface="Times New Roman"/>
                <a:ea typeface="Times New Roman"/>
                <a:cs typeface="Times New Roman"/>
                <a:sym typeface="Times New Roman"/>
              </a:rPr>
              <a:t>Goal of Training</a:t>
            </a:r>
            <a:endParaRPr/>
          </a:p>
          <a:p>
            <a:pPr marL="342900" marR="0" lvl="0" indent="-342900" algn="l" rtl="0">
              <a:lnSpc>
                <a:spcPct val="150000"/>
              </a:lnSpc>
              <a:spcBef>
                <a:spcPts val="0"/>
              </a:spcBef>
              <a:spcAft>
                <a:spcPts val="0"/>
              </a:spcAft>
              <a:buClr>
                <a:schemeClr val="dk1"/>
              </a:buClr>
              <a:buSzPts val="2800"/>
              <a:buFont typeface="Calibri"/>
              <a:buAutoNum type="arabicPeriod"/>
            </a:pPr>
            <a:r>
              <a:rPr lang="en-GB" sz="2800" b="1">
                <a:solidFill>
                  <a:schemeClr val="dk1"/>
                </a:solidFill>
                <a:latin typeface="Times New Roman"/>
                <a:ea typeface="Times New Roman"/>
                <a:cs typeface="Times New Roman"/>
                <a:sym typeface="Times New Roman"/>
              </a:rPr>
              <a:t>Project Overview</a:t>
            </a:r>
            <a:endParaRPr/>
          </a:p>
          <a:p>
            <a:pPr marL="342900" marR="0" lvl="0" indent="-342900" algn="l" rtl="0">
              <a:lnSpc>
                <a:spcPct val="150000"/>
              </a:lnSpc>
              <a:spcBef>
                <a:spcPts val="0"/>
              </a:spcBef>
              <a:spcAft>
                <a:spcPts val="0"/>
              </a:spcAft>
              <a:buClr>
                <a:schemeClr val="dk1"/>
              </a:buClr>
              <a:buSzPts val="2800"/>
              <a:buFont typeface="Calibri"/>
              <a:buAutoNum type="arabicPeriod"/>
            </a:pPr>
            <a:r>
              <a:rPr lang="en-GB" sz="2800" b="1">
                <a:solidFill>
                  <a:schemeClr val="dk1"/>
                </a:solidFill>
                <a:latin typeface="Times New Roman"/>
                <a:ea typeface="Times New Roman"/>
                <a:cs typeface="Times New Roman"/>
                <a:sym typeface="Times New Roman"/>
              </a:rPr>
              <a:t>Working Project</a:t>
            </a:r>
            <a:endParaRPr/>
          </a:p>
          <a:p>
            <a:pPr marL="342900" marR="0" lvl="0" indent="-342900" algn="l" rtl="0">
              <a:lnSpc>
                <a:spcPct val="150000"/>
              </a:lnSpc>
              <a:spcBef>
                <a:spcPts val="0"/>
              </a:spcBef>
              <a:spcAft>
                <a:spcPts val="0"/>
              </a:spcAft>
              <a:buClr>
                <a:schemeClr val="dk1"/>
              </a:buClr>
              <a:buSzPts val="2800"/>
              <a:buFont typeface="Calibri"/>
              <a:buAutoNum type="arabicPeriod"/>
            </a:pPr>
            <a:r>
              <a:rPr lang="en-GB" sz="2800" b="1">
                <a:solidFill>
                  <a:schemeClr val="dk1"/>
                </a:solidFill>
                <a:latin typeface="Times New Roman"/>
                <a:ea typeface="Times New Roman"/>
                <a:cs typeface="Times New Roman"/>
                <a:sym typeface="Times New Roman"/>
              </a:rPr>
              <a:t>Future Scope</a:t>
            </a:r>
            <a:endParaRPr/>
          </a:p>
          <a:p>
            <a:pPr marL="342900" marR="0" lvl="0" indent="-342900" algn="l" rtl="0">
              <a:lnSpc>
                <a:spcPct val="150000"/>
              </a:lnSpc>
              <a:spcBef>
                <a:spcPts val="0"/>
              </a:spcBef>
              <a:spcAft>
                <a:spcPts val="0"/>
              </a:spcAft>
              <a:buClr>
                <a:schemeClr val="dk1"/>
              </a:buClr>
              <a:buSzPts val="2800"/>
              <a:buFont typeface="Calibri"/>
              <a:buAutoNum type="arabicPeriod"/>
            </a:pPr>
            <a:r>
              <a:rPr lang="en-GB" sz="2800" b="1">
                <a:solidFill>
                  <a:schemeClr val="dk1"/>
                </a:solidFill>
                <a:latin typeface="Times New Roman"/>
                <a:ea typeface="Times New Roman"/>
                <a:cs typeface="Times New Roman"/>
                <a:sym typeface="Times New Roman"/>
              </a:rPr>
              <a:t>Q&amp;A</a:t>
            </a:r>
            <a:endParaRPr/>
          </a:p>
          <a:p>
            <a:pPr marL="0" marR="0" lvl="0" indent="0" algn="l" rtl="0">
              <a:spcBef>
                <a:spcPts val="0"/>
              </a:spcBef>
              <a:spcAft>
                <a:spcPts val="0"/>
              </a:spcAft>
              <a:buNone/>
            </a:pPr>
            <a:endParaRPr sz="1800" b="1">
              <a:solidFill>
                <a:schemeClr val="dk1"/>
              </a:solidFill>
              <a:latin typeface="Times New Roman"/>
              <a:ea typeface="Times New Roman"/>
              <a:cs typeface="Times New Roman"/>
              <a:sym typeface="Times New Roman"/>
            </a:endParaRPr>
          </a:p>
          <a:p>
            <a:pPr marL="342900" marR="0" lvl="0" indent="-228600" algn="l" rtl="0">
              <a:spcBef>
                <a:spcPts val="0"/>
              </a:spcBef>
              <a:spcAft>
                <a:spcPts val="0"/>
              </a:spcAft>
              <a:buClr>
                <a:schemeClr val="dk1"/>
              </a:buClr>
              <a:buSzPts val="1800"/>
              <a:buFont typeface="Calibri"/>
              <a:buNone/>
            </a:pPr>
            <a:endParaRPr sz="1800" b="1">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p:nvPr/>
        </p:nvSpPr>
        <p:spPr>
          <a:xfrm>
            <a:off x="2260979" y="218308"/>
            <a:ext cx="9417269" cy="6619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GB" sz="3200" b="1">
                <a:solidFill>
                  <a:schemeClr val="lt1"/>
                </a:solidFill>
                <a:latin typeface="Times New Roman"/>
                <a:ea typeface="Times New Roman"/>
                <a:cs typeface="Times New Roman"/>
                <a:sym typeface="Times New Roman"/>
              </a:rPr>
              <a:t>Company Introduction</a:t>
            </a:r>
            <a:endParaRPr sz="3200" b="1">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endParaRPr sz="2800" b="1">
              <a:solidFill>
                <a:schemeClr val="lt1"/>
              </a:solidFill>
              <a:latin typeface="Times New Roman"/>
              <a:ea typeface="Times New Roman"/>
              <a:cs typeface="Times New Roman"/>
              <a:sym typeface="Times New Roman"/>
            </a:endParaRPr>
          </a:p>
        </p:txBody>
      </p:sp>
      <p:sp>
        <p:nvSpPr>
          <p:cNvPr id="108" name="Google Shape;108;p3"/>
          <p:cNvSpPr/>
          <p:nvPr/>
        </p:nvSpPr>
        <p:spPr>
          <a:xfrm>
            <a:off x="0" y="6615113"/>
            <a:ext cx="12192000" cy="2301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200" b="1">
                <a:solidFill>
                  <a:schemeClr val="lt1"/>
                </a:solidFill>
                <a:latin typeface="Calibri"/>
                <a:ea typeface="Calibri"/>
                <a:cs typeface="Calibri"/>
                <a:sym typeface="Calibri"/>
              </a:rPr>
              <a:t>SKIT, JAIPUR										                                              www.skit.ac.in</a:t>
            </a:r>
            <a:endParaRPr/>
          </a:p>
        </p:txBody>
      </p:sp>
      <p:pic>
        <p:nvPicPr>
          <p:cNvPr id="109" name="Google Shape;109;p3" title="coplur_logo.png"/>
          <p:cNvPicPr preferRelativeResize="0"/>
          <p:nvPr/>
        </p:nvPicPr>
        <p:blipFill rotWithShape="1">
          <a:blip r:embed="rId3">
            <a:alphaModFix/>
          </a:blip>
          <a:srcRect l="-1283" t="-7696" r="-2173" b="-2558"/>
          <a:stretch/>
        </p:blipFill>
        <p:spPr>
          <a:xfrm>
            <a:off x="3780450" y="5225300"/>
            <a:ext cx="5208850" cy="1200150"/>
          </a:xfrm>
          <a:prstGeom prst="rect">
            <a:avLst/>
          </a:prstGeom>
          <a:noFill/>
          <a:ln>
            <a:noFill/>
          </a:ln>
        </p:spPr>
      </p:pic>
      <p:pic>
        <p:nvPicPr>
          <p:cNvPr id="110" name="Google Shape;110;p3" descr="https://www.skit.ac.in/images/headers/skit_logo.png"/>
          <p:cNvPicPr preferRelativeResize="0"/>
          <p:nvPr/>
        </p:nvPicPr>
        <p:blipFill rotWithShape="1">
          <a:blip r:embed="rId4">
            <a:alphaModFix/>
          </a:blip>
          <a:srcRect/>
          <a:stretch/>
        </p:blipFill>
        <p:spPr>
          <a:xfrm>
            <a:off x="150498" y="87701"/>
            <a:ext cx="1133475" cy="1200150"/>
          </a:xfrm>
          <a:prstGeom prst="rect">
            <a:avLst/>
          </a:prstGeom>
          <a:noFill/>
          <a:ln>
            <a:noFill/>
          </a:ln>
        </p:spPr>
      </p:pic>
      <p:sp>
        <p:nvSpPr>
          <p:cNvPr id="111" name="Google Shape;111;p3"/>
          <p:cNvSpPr txBox="1"/>
          <p:nvPr/>
        </p:nvSpPr>
        <p:spPr>
          <a:xfrm>
            <a:off x="1413150" y="1078700"/>
            <a:ext cx="10265100" cy="43641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15000"/>
              </a:lnSpc>
              <a:spcBef>
                <a:spcPts val="1200"/>
              </a:spcBef>
              <a:spcAft>
                <a:spcPts val="0"/>
              </a:spcAft>
              <a:buClr>
                <a:schemeClr val="dk1"/>
              </a:buClr>
              <a:buSzPct val="42308"/>
              <a:buFont typeface="Arial"/>
              <a:buNone/>
            </a:pPr>
            <a:r>
              <a:rPr lang="en-GB" sz="2600" b="1" dirty="0" err="1">
                <a:solidFill>
                  <a:schemeClr val="dk1"/>
                </a:solidFill>
                <a:latin typeface="Calibri"/>
                <a:ea typeface="Calibri"/>
                <a:cs typeface="Calibri"/>
                <a:sym typeface="Calibri"/>
              </a:rPr>
              <a:t>Coplur</a:t>
            </a:r>
            <a:r>
              <a:rPr lang="en-GB" sz="2600" b="1" dirty="0">
                <a:solidFill>
                  <a:schemeClr val="dk1"/>
                </a:solidFill>
                <a:latin typeface="Calibri"/>
                <a:ea typeface="Calibri"/>
                <a:cs typeface="Calibri"/>
                <a:sym typeface="Calibri"/>
              </a:rPr>
              <a:t> Technologies </a:t>
            </a:r>
            <a:r>
              <a:rPr lang="en-GB" sz="2600" b="1" dirty="0" err="1">
                <a:solidFill>
                  <a:schemeClr val="dk1"/>
                </a:solidFill>
                <a:latin typeface="Calibri"/>
                <a:ea typeface="Calibri"/>
                <a:cs typeface="Calibri"/>
                <a:sym typeface="Calibri"/>
              </a:rPr>
              <a:t>Pvt.</a:t>
            </a:r>
            <a:r>
              <a:rPr lang="en-GB" sz="2600" b="1" dirty="0">
                <a:solidFill>
                  <a:schemeClr val="dk1"/>
                </a:solidFill>
                <a:latin typeface="Calibri"/>
                <a:ea typeface="Calibri"/>
                <a:cs typeface="Calibri"/>
                <a:sym typeface="Calibri"/>
              </a:rPr>
              <a:t> Ltd. (in association with SKIT , Jaipur)</a:t>
            </a:r>
            <a:r>
              <a:rPr lang="en-GB" sz="2600" dirty="0">
                <a:solidFill>
                  <a:schemeClr val="dk1"/>
                </a:solidFill>
                <a:latin typeface="Calibri"/>
                <a:ea typeface="Calibri"/>
                <a:cs typeface="Calibri"/>
                <a:sym typeface="Calibri"/>
              </a:rPr>
              <a:t> is a </a:t>
            </a:r>
            <a:r>
              <a:rPr lang="en-GB" sz="2600" b="1" dirty="0">
                <a:solidFill>
                  <a:schemeClr val="dk1"/>
                </a:solidFill>
                <a:latin typeface="Calibri"/>
                <a:ea typeface="Calibri"/>
                <a:cs typeface="Calibri"/>
                <a:sym typeface="Calibri"/>
              </a:rPr>
              <a:t>Jaipur-based B2B EdTech and HRTech company</a:t>
            </a:r>
            <a:r>
              <a:rPr lang="en-GB" sz="2600" dirty="0">
                <a:solidFill>
                  <a:schemeClr val="dk1"/>
                </a:solidFill>
                <a:latin typeface="Calibri"/>
                <a:ea typeface="Calibri"/>
                <a:cs typeface="Calibri"/>
                <a:sym typeface="Calibri"/>
              </a:rPr>
              <a:t> that focuses on improving student employability through AI-powered assessments and industry-oriented training.</a:t>
            </a:r>
            <a:endParaRPr sz="2600" dirty="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ct val="42308"/>
              <a:buFont typeface="Arial"/>
              <a:buNone/>
            </a:pPr>
            <a:r>
              <a:rPr lang="en-GB" sz="2600" dirty="0">
                <a:solidFill>
                  <a:schemeClr val="dk1"/>
                </a:solidFill>
                <a:latin typeface="Calibri"/>
                <a:ea typeface="Calibri"/>
                <a:cs typeface="Calibri"/>
                <a:sym typeface="Calibri"/>
              </a:rPr>
              <a:t>The company bridges the gap between </a:t>
            </a:r>
            <a:r>
              <a:rPr lang="en-GB" sz="2600" b="1" dirty="0">
                <a:solidFill>
                  <a:schemeClr val="dk1"/>
                </a:solidFill>
                <a:latin typeface="Calibri"/>
                <a:ea typeface="Calibri"/>
                <a:cs typeface="Calibri"/>
                <a:sym typeface="Calibri"/>
              </a:rPr>
              <a:t>academia and industry</a:t>
            </a:r>
            <a:r>
              <a:rPr lang="en-GB" sz="2600" dirty="0">
                <a:solidFill>
                  <a:schemeClr val="dk1"/>
                </a:solidFill>
                <a:latin typeface="Calibri"/>
                <a:ea typeface="Calibri"/>
                <a:cs typeface="Calibri"/>
                <a:sym typeface="Calibri"/>
              </a:rPr>
              <a:t> by providing:</a:t>
            </a:r>
            <a:endParaRPr sz="2600" dirty="0">
              <a:solidFill>
                <a:schemeClr val="dk1"/>
              </a:solidFill>
              <a:latin typeface="Calibri"/>
              <a:ea typeface="Calibri"/>
              <a:cs typeface="Calibri"/>
              <a:sym typeface="Calibri"/>
            </a:endParaRPr>
          </a:p>
          <a:p>
            <a:pPr marL="457200" lvl="0" indent="-356553" algn="l" rtl="0">
              <a:lnSpc>
                <a:spcPct val="115000"/>
              </a:lnSpc>
              <a:spcBef>
                <a:spcPts val="1200"/>
              </a:spcBef>
              <a:spcAft>
                <a:spcPts val="0"/>
              </a:spcAft>
              <a:buClr>
                <a:schemeClr val="dk1"/>
              </a:buClr>
              <a:buSzPct val="100000"/>
              <a:buFont typeface="Calibri"/>
              <a:buChar char="●"/>
            </a:pPr>
            <a:r>
              <a:rPr lang="en-GB" sz="2600" dirty="0">
                <a:solidFill>
                  <a:schemeClr val="dk1"/>
                </a:solidFill>
                <a:latin typeface="Calibri"/>
                <a:ea typeface="Calibri"/>
                <a:cs typeface="Calibri"/>
                <a:sym typeface="Calibri"/>
              </a:rPr>
              <a:t>AI-based Work Readiness Assessments</a:t>
            </a:r>
            <a:endParaRPr sz="2600" dirty="0">
              <a:solidFill>
                <a:schemeClr val="dk1"/>
              </a:solidFill>
              <a:latin typeface="Calibri"/>
              <a:ea typeface="Calibri"/>
              <a:cs typeface="Calibri"/>
              <a:sym typeface="Calibri"/>
            </a:endParaRPr>
          </a:p>
          <a:p>
            <a:pPr marL="457200" lvl="0" indent="-356553" algn="l" rtl="0">
              <a:lnSpc>
                <a:spcPct val="115000"/>
              </a:lnSpc>
              <a:spcBef>
                <a:spcPts val="0"/>
              </a:spcBef>
              <a:spcAft>
                <a:spcPts val="0"/>
              </a:spcAft>
              <a:buClr>
                <a:schemeClr val="dk1"/>
              </a:buClr>
              <a:buSzPct val="100000"/>
              <a:buFont typeface="Calibri"/>
              <a:buChar char="●"/>
            </a:pPr>
            <a:r>
              <a:rPr lang="en-GB" sz="2600" dirty="0">
                <a:solidFill>
                  <a:schemeClr val="dk1"/>
                </a:solidFill>
                <a:latin typeface="Calibri"/>
                <a:ea typeface="Calibri"/>
                <a:cs typeface="Calibri"/>
                <a:sym typeface="Calibri"/>
              </a:rPr>
              <a:t>Skill Development &amp; Technical Training</a:t>
            </a:r>
            <a:endParaRPr sz="2600" dirty="0">
              <a:solidFill>
                <a:schemeClr val="dk1"/>
              </a:solidFill>
              <a:latin typeface="Calibri"/>
              <a:ea typeface="Calibri"/>
              <a:cs typeface="Calibri"/>
              <a:sym typeface="Calibri"/>
            </a:endParaRPr>
          </a:p>
          <a:p>
            <a:pPr marL="457200" lvl="0" indent="-356553" algn="l" rtl="0">
              <a:lnSpc>
                <a:spcPct val="115000"/>
              </a:lnSpc>
              <a:spcBef>
                <a:spcPts val="0"/>
              </a:spcBef>
              <a:spcAft>
                <a:spcPts val="0"/>
              </a:spcAft>
              <a:buClr>
                <a:schemeClr val="dk1"/>
              </a:buClr>
              <a:buSzPct val="100000"/>
              <a:buFont typeface="Calibri"/>
              <a:buChar char="●"/>
            </a:pPr>
            <a:r>
              <a:rPr lang="en-GB" sz="2600" dirty="0">
                <a:solidFill>
                  <a:schemeClr val="dk1"/>
                </a:solidFill>
                <a:latin typeface="Calibri"/>
                <a:ea typeface="Calibri"/>
                <a:cs typeface="Calibri"/>
                <a:sym typeface="Calibri"/>
              </a:rPr>
              <a:t>Internship and Placement Support</a:t>
            </a:r>
            <a:endParaRPr sz="2600" dirty="0">
              <a:solidFill>
                <a:schemeClr val="dk1"/>
              </a:solidFill>
              <a:latin typeface="Calibri"/>
              <a:ea typeface="Calibri"/>
              <a:cs typeface="Calibri"/>
              <a:sym typeface="Calibri"/>
            </a:endParaRPr>
          </a:p>
          <a:p>
            <a:pPr marL="457200" lvl="0" indent="-356553" algn="l" rtl="0">
              <a:lnSpc>
                <a:spcPct val="115000"/>
              </a:lnSpc>
              <a:spcBef>
                <a:spcPts val="0"/>
              </a:spcBef>
              <a:spcAft>
                <a:spcPts val="0"/>
              </a:spcAft>
              <a:buClr>
                <a:schemeClr val="dk1"/>
              </a:buClr>
              <a:buSzPct val="100000"/>
              <a:buFont typeface="Calibri"/>
              <a:buChar char="●"/>
            </a:pPr>
            <a:r>
              <a:rPr lang="en-GB" sz="2600" dirty="0">
                <a:solidFill>
                  <a:schemeClr val="dk1"/>
                </a:solidFill>
                <a:latin typeface="Calibri"/>
                <a:ea typeface="Calibri"/>
                <a:cs typeface="Calibri"/>
                <a:sym typeface="Calibri"/>
              </a:rPr>
              <a:t>Corporate Hiring Solutions</a:t>
            </a:r>
            <a:endParaRPr sz="2600" dirty="0">
              <a:solidFill>
                <a:schemeClr val="dk1"/>
              </a:solidFill>
              <a:latin typeface="Calibri"/>
              <a:ea typeface="Calibri"/>
              <a:cs typeface="Calibri"/>
              <a:sym typeface="Calibri"/>
            </a:endParaRPr>
          </a:p>
          <a:p>
            <a:pPr marL="457200" lvl="0" indent="-356553" algn="l" rtl="0">
              <a:lnSpc>
                <a:spcPct val="115000"/>
              </a:lnSpc>
              <a:spcBef>
                <a:spcPts val="0"/>
              </a:spcBef>
              <a:spcAft>
                <a:spcPts val="0"/>
              </a:spcAft>
              <a:buClr>
                <a:schemeClr val="dk1"/>
              </a:buClr>
              <a:buSzPct val="100000"/>
              <a:buFont typeface="Calibri"/>
              <a:buChar char="●"/>
            </a:pPr>
            <a:r>
              <a:rPr lang="en-GB" sz="2600" dirty="0">
                <a:solidFill>
                  <a:schemeClr val="dk1"/>
                </a:solidFill>
                <a:latin typeface="Calibri"/>
                <a:ea typeface="Calibri"/>
                <a:cs typeface="Calibri"/>
                <a:sym typeface="Calibri"/>
              </a:rPr>
              <a:t>Career Readiness Analytics</a:t>
            </a:r>
            <a:endParaRPr sz="2600" dirty="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ct val="42308"/>
              <a:buFont typeface="Arial"/>
              <a:buNone/>
            </a:pPr>
            <a:r>
              <a:rPr lang="en-GB" sz="2600" dirty="0">
                <a:solidFill>
                  <a:schemeClr val="dk1"/>
                </a:solidFill>
                <a:latin typeface="Calibri"/>
                <a:ea typeface="Calibri"/>
                <a:cs typeface="Calibri"/>
                <a:sym typeface="Calibri"/>
              </a:rPr>
              <a:t>Its mission is to create </a:t>
            </a:r>
            <a:r>
              <a:rPr lang="en-GB" sz="2600" b="1" dirty="0">
                <a:solidFill>
                  <a:schemeClr val="dk1"/>
                </a:solidFill>
                <a:latin typeface="Calibri"/>
                <a:ea typeface="Calibri"/>
                <a:cs typeface="Calibri"/>
                <a:sym typeface="Calibri"/>
              </a:rPr>
              <a:t>job-ready professionals</a:t>
            </a:r>
            <a:r>
              <a:rPr lang="en-GB" sz="2600" dirty="0">
                <a:solidFill>
                  <a:schemeClr val="dk1"/>
                </a:solidFill>
                <a:latin typeface="Calibri"/>
                <a:ea typeface="Calibri"/>
                <a:cs typeface="Calibri"/>
                <a:sym typeface="Calibri"/>
              </a:rPr>
              <a:t> by equipping students with practical skills aligned with industry requirements.</a:t>
            </a:r>
            <a:endParaRPr sz="2600" dirty="0">
              <a:solidFill>
                <a:schemeClr val="dk1"/>
              </a:solidFill>
              <a:latin typeface="Calibri"/>
              <a:ea typeface="Calibri"/>
              <a:cs typeface="Calibri"/>
              <a:sym typeface="Calibri"/>
            </a:endParaRPr>
          </a:p>
          <a:p>
            <a:pPr marL="0" marR="0" lvl="0" indent="0" algn="l" rtl="0">
              <a:spcBef>
                <a:spcPts val="1200"/>
              </a:spcBef>
              <a:spcAft>
                <a:spcPts val="0"/>
              </a:spcAft>
              <a:buNone/>
            </a:pPr>
            <a:endParaRPr sz="2600" b="1"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p:nvPr/>
        </p:nvSpPr>
        <p:spPr>
          <a:xfrm>
            <a:off x="2260979" y="218308"/>
            <a:ext cx="9417269" cy="6619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GB" sz="3200">
                <a:solidFill>
                  <a:schemeClr val="lt1"/>
                </a:solidFill>
                <a:latin typeface="Times New Roman"/>
                <a:ea typeface="Times New Roman"/>
                <a:cs typeface="Times New Roman"/>
                <a:sym typeface="Times New Roman"/>
              </a:rPr>
              <a:t>Technology Stack Used</a:t>
            </a:r>
            <a:endParaRPr sz="3200" b="1">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endParaRPr sz="2800" b="1">
              <a:solidFill>
                <a:schemeClr val="lt1"/>
              </a:solidFill>
              <a:latin typeface="Times New Roman"/>
              <a:ea typeface="Times New Roman"/>
              <a:cs typeface="Times New Roman"/>
              <a:sym typeface="Times New Roman"/>
            </a:endParaRPr>
          </a:p>
        </p:txBody>
      </p:sp>
      <p:sp>
        <p:nvSpPr>
          <p:cNvPr id="117" name="Google Shape;117;p5"/>
          <p:cNvSpPr/>
          <p:nvPr/>
        </p:nvSpPr>
        <p:spPr>
          <a:xfrm>
            <a:off x="0" y="6615113"/>
            <a:ext cx="12192000" cy="2301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200" b="1">
                <a:solidFill>
                  <a:schemeClr val="lt1"/>
                </a:solidFill>
                <a:latin typeface="Calibri"/>
                <a:ea typeface="Calibri"/>
                <a:cs typeface="Calibri"/>
                <a:sym typeface="Calibri"/>
              </a:rPr>
              <a:t>SKIT, JAIPUR										                                              www.skit.ac.in</a:t>
            </a:r>
            <a:endParaRPr/>
          </a:p>
        </p:txBody>
      </p:sp>
      <p:pic>
        <p:nvPicPr>
          <p:cNvPr id="118" name="Google Shape;118;p5" descr="https://www.skit.ac.in/images/headers/skit_logo.png"/>
          <p:cNvPicPr preferRelativeResize="0"/>
          <p:nvPr/>
        </p:nvPicPr>
        <p:blipFill rotWithShape="1">
          <a:blip r:embed="rId3">
            <a:alphaModFix/>
          </a:blip>
          <a:srcRect/>
          <a:stretch/>
        </p:blipFill>
        <p:spPr>
          <a:xfrm>
            <a:off x="244143" y="124980"/>
            <a:ext cx="1133475" cy="1200150"/>
          </a:xfrm>
          <a:prstGeom prst="rect">
            <a:avLst/>
          </a:prstGeom>
          <a:noFill/>
          <a:ln>
            <a:noFill/>
          </a:ln>
        </p:spPr>
      </p:pic>
      <p:pic>
        <p:nvPicPr>
          <p:cNvPr id="119" name="Google Shape;119;p5" title="Azure.jpg"/>
          <p:cNvPicPr preferRelativeResize="0"/>
          <p:nvPr/>
        </p:nvPicPr>
        <p:blipFill rotWithShape="1">
          <a:blip r:embed="rId4">
            <a:alphaModFix/>
          </a:blip>
          <a:srcRect t="5500" b="5500"/>
          <a:stretch/>
        </p:blipFill>
        <p:spPr>
          <a:xfrm>
            <a:off x="2511641" y="1047825"/>
            <a:ext cx="1071815" cy="953902"/>
          </a:xfrm>
          <a:prstGeom prst="rect">
            <a:avLst/>
          </a:prstGeom>
          <a:noFill/>
          <a:ln>
            <a:noFill/>
          </a:ln>
        </p:spPr>
      </p:pic>
      <p:pic>
        <p:nvPicPr>
          <p:cNvPr id="120" name="Google Shape;120;p5" title="ADF.jpg"/>
          <p:cNvPicPr preferRelativeResize="0"/>
          <p:nvPr/>
        </p:nvPicPr>
        <p:blipFill rotWithShape="1">
          <a:blip r:embed="rId5">
            <a:alphaModFix/>
          </a:blip>
          <a:srcRect l="-4566" t="-2543" r="-3894"/>
          <a:stretch/>
        </p:blipFill>
        <p:spPr>
          <a:xfrm>
            <a:off x="4611738" y="914250"/>
            <a:ext cx="2537676" cy="1200150"/>
          </a:xfrm>
          <a:prstGeom prst="rect">
            <a:avLst/>
          </a:prstGeom>
          <a:noFill/>
          <a:ln>
            <a:noFill/>
          </a:ln>
        </p:spPr>
      </p:pic>
      <p:pic>
        <p:nvPicPr>
          <p:cNvPr id="121" name="Google Shape;121;p5" title="Delta_Lake.png"/>
          <p:cNvPicPr preferRelativeResize="0"/>
          <p:nvPr/>
        </p:nvPicPr>
        <p:blipFill rotWithShape="1">
          <a:blip r:embed="rId6">
            <a:alphaModFix/>
          </a:blip>
          <a:srcRect t="19433" b="19439"/>
          <a:stretch/>
        </p:blipFill>
        <p:spPr>
          <a:xfrm>
            <a:off x="2207550" y="2400292"/>
            <a:ext cx="1953325" cy="1194035"/>
          </a:xfrm>
          <a:prstGeom prst="rect">
            <a:avLst/>
          </a:prstGeom>
          <a:noFill/>
          <a:ln>
            <a:noFill/>
          </a:ln>
        </p:spPr>
      </p:pic>
      <p:sp>
        <p:nvSpPr>
          <p:cNvPr id="122" name="Google Shape;122;p5" descr="daisyUI Logo — daisyUI Tailwind CSS Component UI Library"/>
          <p:cNvSpPr/>
          <p:nvPr/>
        </p:nvSpPr>
        <p:spPr>
          <a:xfrm>
            <a:off x="9375559" y="1361916"/>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5" descr="daisyUI Logo — daisyUI Tailwind CSS Component UI Library"/>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 name="Google Shape;124;p5" descr="daisyUI Logo — daisyUI Tailwind CSS Component UI Library"/>
          <p:cNvSpPr/>
          <p:nvPr/>
        </p:nvSpPr>
        <p:spPr>
          <a:xfrm>
            <a:off x="6248400" y="35814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 name="Google Shape;125;p5" descr="daisyUI Logo — daisyUI Tailwind CSS Component UI Library"/>
          <p:cNvSpPr/>
          <p:nvPr/>
        </p:nvSpPr>
        <p:spPr>
          <a:xfrm>
            <a:off x="4833744" y="1950457"/>
            <a:ext cx="2093700" cy="2093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 name="Google Shape;126;p5" descr="Redux SVG and transparent PNG icons | TechIcons"/>
          <p:cNvSpPr/>
          <p:nvPr/>
        </p:nvSpPr>
        <p:spPr>
          <a:xfrm>
            <a:off x="6400800" y="37338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27" name="Google Shape;127;p5" title="ADLS.jpg"/>
          <p:cNvPicPr preferRelativeResize="0"/>
          <p:nvPr/>
        </p:nvPicPr>
        <p:blipFill rotWithShape="1">
          <a:blip r:embed="rId7">
            <a:alphaModFix/>
          </a:blip>
          <a:srcRect t="31851" b="31851"/>
          <a:stretch/>
        </p:blipFill>
        <p:spPr>
          <a:xfrm>
            <a:off x="7939160" y="956337"/>
            <a:ext cx="3306386" cy="1200150"/>
          </a:xfrm>
          <a:prstGeom prst="rect">
            <a:avLst/>
          </a:prstGeom>
          <a:noFill/>
          <a:ln>
            <a:noFill/>
          </a:ln>
        </p:spPr>
      </p:pic>
      <p:sp>
        <p:nvSpPr>
          <p:cNvPr id="128" name="Google Shape;128;p5" descr="Redux SVG and transparent PNG icons | TechIcons"/>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29" name="Google Shape;129;p5" title="Spark.png"/>
          <p:cNvPicPr preferRelativeResize="0"/>
          <p:nvPr/>
        </p:nvPicPr>
        <p:blipFill rotWithShape="1">
          <a:blip r:embed="rId8">
            <a:alphaModFix/>
          </a:blip>
          <a:srcRect l="-2910" t="-1282" r="2910" b="-1272"/>
          <a:stretch/>
        </p:blipFill>
        <p:spPr>
          <a:xfrm>
            <a:off x="1886225" y="4068875"/>
            <a:ext cx="3306400" cy="1557175"/>
          </a:xfrm>
          <a:prstGeom prst="rect">
            <a:avLst/>
          </a:prstGeom>
          <a:noFill/>
          <a:ln>
            <a:noFill/>
          </a:ln>
        </p:spPr>
      </p:pic>
      <p:pic>
        <p:nvPicPr>
          <p:cNvPr id="130" name="Google Shape;130;p5" title="images.png"/>
          <p:cNvPicPr preferRelativeResize="0"/>
          <p:nvPr/>
        </p:nvPicPr>
        <p:blipFill rotWithShape="1">
          <a:blip r:embed="rId9">
            <a:alphaModFix/>
          </a:blip>
          <a:srcRect t="15340" b="15340"/>
          <a:stretch/>
        </p:blipFill>
        <p:spPr>
          <a:xfrm>
            <a:off x="4821913" y="2345062"/>
            <a:ext cx="3462565" cy="1200150"/>
          </a:xfrm>
          <a:prstGeom prst="rect">
            <a:avLst/>
          </a:prstGeom>
          <a:noFill/>
          <a:ln>
            <a:noFill/>
          </a:ln>
        </p:spPr>
      </p:pic>
      <p:pic>
        <p:nvPicPr>
          <p:cNvPr id="131" name="Google Shape;131;p5" title="PowerBI.jpg"/>
          <p:cNvPicPr preferRelativeResize="0"/>
          <p:nvPr/>
        </p:nvPicPr>
        <p:blipFill rotWithShape="1">
          <a:blip r:embed="rId10">
            <a:alphaModFix/>
          </a:blip>
          <a:srcRect r="-2010"/>
          <a:stretch/>
        </p:blipFill>
        <p:spPr>
          <a:xfrm>
            <a:off x="7939150" y="2511703"/>
            <a:ext cx="2909626" cy="1557160"/>
          </a:xfrm>
          <a:prstGeom prst="rect">
            <a:avLst/>
          </a:prstGeom>
          <a:noFill/>
          <a:ln>
            <a:noFill/>
          </a:ln>
        </p:spPr>
      </p:pic>
      <p:pic>
        <p:nvPicPr>
          <p:cNvPr id="132" name="Google Shape;132;p5" title="SQL.jpg"/>
          <p:cNvPicPr preferRelativeResize="0"/>
          <p:nvPr/>
        </p:nvPicPr>
        <p:blipFill rotWithShape="1">
          <a:blip r:embed="rId11">
            <a:alphaModFix/>
          </a:blip>
          <a:srcRect/>
          <a:stretch/>
        </p:blipFill>
        <p:spPr>
          <a:xfrm>
            <a:off x="5943595" y="4227190"/>
            <a:ext cx="1392474" cy="1392474"/>
          </a:xfrm>
          <a:prstGeom prst="rect">
            <a:avLst/>
          </a:prstGeom>
          <a:noFill/>
          <a:ln>
            <a:noFill/>
          </a:ln>
        </p:spPr>
      </p:pic>
      <p:pic>
        <p:nvPicPr>
          <p:cNvPr id="133" name="Google Shape;133;p5" title="python.jpg"/>
          <p:cNvPicPr preferRelativeResize="0"/>
          <p:nvPr/>
        </p:nvPicPr>
        <p:blipFill rotWithShape="1">
          <a:blip r:embed="rId12">
            <a:alphaModFix/>
          </a:blip>
          <a:srcRect/>
          <a:stretch/>
        </p:blipFill>
        <p:spPr>
          <a:xfrm>
            <a:off x="9977050" y="4424088"/>
            <a:ext cx="1200148" cy="1200152"/>
          </a:xfrm>
          <a:prstGeom prst="rect">
            <a:avLst/>
          </a:prstGeom>
          <a:noFill/>
          <a:ln>
            <a:noFill/>
          </a:ln>
        </p:spPr>
      </p:pic>
      <p:pic>
        <p:nvPicPr>
          <p:cNvPr id="134" name="Google Shape;134;p5" descr="A black and white cat logo&#10;&#10;AI-generated content may be incorrect."/>
          <p:cNvPicPr preferRelativeResize="0"/>
          <p:nvPr/>
        </p:nvPicPr>
        <p:blipFill rotWithShape="1">
          <a:blip r:embed="rId13">
            <a:alphaModFix/>
          </a:blip>
          <a:srcRect t="8380"/>
          <a:stretch/>
        </p:blipFill>
        <p:spPr>
          <a:xfrm>
            <a:off x="8031126" y="4327923"/>
            <a:ext cx="1519847" cy="1392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2260979" y="218308"/>
            <a:ext cx="9417269" cy="6619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GB" sz="3200" b="1">
                <a:solidFill>
                  <a:schemeClr val="lt1"/>
                </a:solidFill>
                <a:latin typeface="Times New Roman"/>
                <a:ea typeface="Times New Roman"/>
                <a:cs typeface="Times New Roman"/>
                <a:sym typeface="Times New Roman"/>
              </a:rPr>
              <a:t>Goal Of Training</a:t>
            </a:r>
            <a:endParaRPr sz="3200" b="1">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endParaRPr sz="2800" b="1">
              <a:solidFill>
                <a:schemeClr val="lt1"/>
              </a:solidFill>
              <a:latin typeface="Times New Roman"/>
              <a:ea typeface="Times New Roman"/>
              <a:cs typeface="Times New Roman"/>
              <a:sym typeface="Times New Roman"/>
            </a:endParaRPr>
          </a:p>
        </p:txBody>
      </p:sp>
      <p:sp>
        <p:nvSpPr>
          <p:cNvPr id="140" name="Google Shape;140;p6"/>
          <p:cNvSpPr/>
          <p:nvPr/>
        </p:nvSpPr>
        <p:spPr>
          <a:xfrm>
            <a:off x="0" y="6615113"/>
            <a:ext cx="12192000" cy="2301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200" b="1">
                <a:solidFill>
                  <a:schemeClr val="lt1"/>
                </a:solidFill>
                <a:latin typeface="Calibri"/>
                <a:ea typeface="Calibri"/>
                <a:cs typeface="Calibri"/>
                <a:sym typeface="Calibri"/>
              </a:rPr>
              <a:t>SKIT, JAIPUR										                                              www.skit.ac.in</a:t>
            </a:r>
            <a:endParaRPr/>
          </a:p>
        </p:txBody>
      </p:sp>
      <p:pic>
        <p:nvPicPr>
          <p:cNvPr id="141" name="Google Shape;141;p6" descr="https://www.skit.ac.in/images/headers/skit_logo.png"/>
          <p:cNvPicPr preferRelativeResize="0"/>
          <p:nvPr/>
        </p:nvPicPr>
        <p:blipFill rotWithShape="1">
          <a:blip r:embed="rId3">
            <a:alphaModFix/>
          </a:blip>
          <a:srcRect/>
          <a:stretch/>
        </p:blipFill>
        <p:spPr>
          <a:xfrm>
            <a:off x="156251" y="112764"/>
            <a:ext cx="1133475" cy="1200150"/>
          </a:xfrm>
          <a:prstGeom prst="rect">
            <a:avLst/>
          </a:prstGeom>
          <a:noFill/>
          <a:ln>
            <a:noFill/>
          </a:ln>
        </p:spPr>
      </p:pic>
      <p:sp>
        <p:nvSpPr>
          <p:cNvPr id="142" name="Google Shape;142;p6"/>
          <p:cNvSpPr txBox="1"/>
          <p:nvPr/>
        </p:nvSpPr>
        <p:spPr>
          <a:xfrm>
            <a:off x="2186863" y="687424"/>
            <a:ext cx="9565500" cy="59277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800"/>
              </a:spcBef>
              <a:spcAft>
                <a:spcPts val="0"/>
              </a:spcAft>
              <a:buSzPts val="1100"/>
              <a:buNone/>
            </a:pPr>
            <a:endParaRPr sz="2100" b="1">
              <a:solidFill>
                <a:schemeClr val="dk1"/>
              </a:solidFill>
            </a:endParaRPr>
          </a:p>
          <a:p>
            <a:pPr marL="457200" lvl="0" indent="-361950" algn="l" rtl="0">
              <a:lnSpc>
                <a:spcPct val="115000"/>
              </a:lnSpc>
              <a:spcBef>
                <a:spcPts val="1200"/>
              </a:spcBef>
              <a:spcAft>
                <a:spcPts val="0"/>
              </a:spcAft>
              <a:buClr>
                <a:schemeClr val="dk1"/>
              </a:buClr>
              <a:buSzPts val="2100"/>
              <a:buChar char="●"/>
            </a:pPr>
            <a:r>
              <a:rPr lang="en-GB" sz="2100">
                <a:solidFill>
                  <a:schemeClr val="dk1"/>
                </a:solidFill>
                <a:latin typeface="Calibri"/>
                <a:ea typeface="Calibri"/>
                <a:cs typeface="Calibri"/>
                <a:sym typeface="Calibri"/>
              </a:rPr>
              <a:t>Gain practical knowledge of </a:t>
            </a:r>
            <a:r>
              <a:rPr lang="en-GB" sz="2100" b="1">
                <a:solidFill>
                  <a:schemeClr val="dk1"/>
                </a:solidFill>
                <a:latin typeface="Calibri"/>
                <a:ea typeface="Calibri"/>
                <a:cs typeface="Calibri"/>
                <a:sym typeface="Calibri"/>
              </a:rPr>
              <a:t>Data Engineering</a:t>
            </a:r>
            <a:r>
              <a:rPr lang="en-GB" sz="2100">
                <a:solidFill>
                  <a:schemeClr val="dk1"/>
                </a:solidFill>
                <a:latin typeface="Calibri"/>
                <a:ea typeface="Calibri"/>
                <a:cs typeface="Calibri"/>
                <a:sym typeface="Calibri"/>
              </a:rPr>
              <a:t> concepts and industry workflows.</a:t>
            </a:r>
            <a:endParaRPr sz="2100">
              <a:solidFill>
                <a:schemeClr val="dk1"/>
              </a:solidFill>
              <a:latin typeface="Calibri"/>
              <a:ea typeface="Calibri"/>
              <a:cs typeface="Calibri"/>
              <a:sym typeface="Calibri"/>
            </a:endParaRPr>
          </a:p>
          <a:p>
            <a:pPr marL="457200" lvl="0" indent="-361950" algn="l" rtl="0">
              <a:lnSpc>
                <a:spcPct val="115000"/>
              </a:lnSpc>
              <a:spcBef>
                <a:spcPts val="0"/>
              </a:spcBef>
              <a:spcAft>
                <a:spcPts val="0"/>
              </a:spcAft>
              <a:buClr>
                <a:schemeClr val="dk1"/>
              </a:buClr>
              <a:buSzPts val="2100"/>
              <a:buChar char="●"/>
            </a:pPr>
            <a:r>
              <a:rPr lang="en-GB" sz="2100">
                <a:solidFill>
                  <a:schemeClr val="dk1"/>
                </a:solidFill>
                <a:latin typeface="Calibri"/>
                <a:ea typeface="Calibri"/>
                <a:cs typeface="Calibri"/>
                <a:sym typeface="Calibri"/>
              </a:rPr>
              <a:t>Build a strong foundation in </a:t>
            </a:r>
            <a:r>
              <a:rPr lang="en-GB" sz="2100" b="1">
                <a:solidFill>
                  <a:schemeClr val="dk1"/>
                </a:solidFill>
                <a:latin typeface="Calibri"/>
                <a:ea typeface="Calibri"/>
                <a:cs typeface="Calibri"/>
                <a:sym typeface="Calibri"/>
              </a:rPr>
              <a:t>Python, SQL, NumPy, and Pandas</a:t>
            </a:r>
            <a:r>
              <a:rPr lang="en-GB" sz="2100">
                <a:solidFill>
                  <a:schemeClr val="dk1"/>
                </a:solidFill>
                <a:latin typeface="Calibri"/>
                <a:ea typeface="Calibri"/>
                <a:cs typeface="Calibri"/>
                <a:sym typeface="Calibri"/>
              </a:rPr>
              <a:t> for data processing.</a:t>
            </a:r>
            <a:endParaRPr sz="2100">
              <a:solidFill>
                <a:schemeClr val="dk1"/>
              </a:solidFill>
              <a:latin typeface="Calibri"/>
              <a:ea typeface="Calibri"/>
              <a:cs typeface="Calibri"/>
              <a:sym typeface="Calibri"/>
            </a:endParaRPr>
          </a:p>
          <a:p>
            <a:pPr marL="457200" lvl="0" indent="-361950" algn="l" rtl="0">
              <a:lnSpc>
                <a:spcPct val="115000"/>
              </a:lnSpc>
              <a:spcBef>
                <a:spcPts val="0"/>
              </a:spcBef>
              <a:spcAft>
                <a:spcPts val="0"/>
              </a:spcAft>
              <a:buClr>
                <a:schemeClr val="dk1"/>
              </a:buClr>
              <a:buSzPts val="2100"/>
              <a:buChar char="●"/>
            </a:pPr>
            <a:r>
              <a:rPr lang="en-GB" sz="2100">
                <a:solidFill>
                  <a:schemeClr val="dk1"/>
                </a:solidFill>
                <a:latin typeface="Calibri"/>
                <a:ea typeface="Calibri"/>
                <a:cs typeface="Calibri"/>
                <a:sym typeface="Calibri"/>
              </a:rPr>
              <a:t>Learn </a:t>
            </a:r>
            <a:r>
              <a:rPr lang="en-GB" sz="2100" b="1">
                <a:solidFill>
                  <a:schemeClr val="dk1"/>
                </a:solidFill>
                <a:latin typeface="Calibri"/>
                <a:ea typeface="Calibri"/>
                <a:cs typeface="Calibri"/>
                <a:sym typeface="Calibri"/>
              </a:rPr>
              <a:t>Git</a:t>
            </a:r>
            <a:r>
              <a:rPr lang="en-GB" sz="2100">
                <a:solidFill>
                  <a:schemeClr val="dk1"/>
                </a:solidFill>
                <a:latin typeface="Calibri"/>
                <a:ea typeface="Calibri"/>
                <a:cs typeface="Calibri"/>
                <a:sym typeface="Calibri"/>
              </a:rPr>
              <a:t> and version control for collaborative software development.</a:t>
            </a:r>
            <a:endParaRPr sz="2100">
              <a:solidFill>
                <a:schemeClr val="dk1"/>
              </a:solidFill>
              <a:latin typeface="Calibri"/>
              <a:ea typeface="Calibri"/>
              <a:cs typeface="Calibri"/>
              <a:sym typeface="Calibri"/>
            </a:endParaRPr>
          </a:p>
          <a:p>
            <a:pPr marL="457200" lvl="0" indent="-361950" algn="l" rtl="0">
              <a:lnSpc>
                <a:spcPct val="115000"/>
              </a:lnSpc>
              <a:spcBef>
                <a:spcPts val="0"/>
              </a:spcBef>
              <a:spcAft>
                <a:spcPts val="0"/>
              </a:spcAft>
              <a:buClr>
                <a:schemeClr val="dk1"/>
              </a:buClr>
              <a:buSzPts val="2100"/>
              <a:buChar char="●"/>
            </a:pPr>
            <a:r>
              <a:rPr lang="en-GB" sz="2100">
                <a:solidFill>
                  <a:schemeClr val="dk1"/>
                </a:solidFill>
                <a:latin typeface="Calibri"/>
                <a:ea typeface="Calibri"/>
                <a:cs typeface="Calibri"/>
                <a:sym typeface="Calibri"/>
              </a:rPr>
              <a:t>Understand </a:t>
            </a:r>
            <a:r>
              <a:rPr lang="en-GB" sz="2100" b="1">
                <a:solidFill>
                  <a:schemeClr val="dk1"/>
                </a:solidFill>
                <a:latin typeface="Calibri"/>
                <a:ea typeface="Calibri"/>
                <a:cs typeface="Calibri"/>
                <a:sym typeface="Calibri"/>
              </a:rPr>
              <a:t>Apache Spark</a:t>
            </a:r>
            <a:r>
              <a:rPr lang="en-GB" sz="2100">
                <a:solidFill>
                  <a:schemeClr val="dk1"/>
                </a:solidFill>
                <a:latin typeface="Calibri"/>
                <a:ea typeface="Calibri"/>
                <a:cs typeface="Calibri"/>
                <a:sym typeface="Calibri"/>
              </a:rPr>
              <a:t> and </a:t>
            </a:r>
            <a:r>
              <a:rPr lang="en-GB" sz="2100" b="1">
                <a:solidFill>
                  <a:schemeClr val="dk1"/>
                </a:solidFill>
                <a:latin typeface="Calibri"/>
                <a:ea typeface="Calibri"/>
                <a:cs typeface="Calibri"/>
                <a:sym typeface="Calibri"/>
              </a:rPr>
              <a:t>PySpark</a:t>
            </a:r>
            <a:r>
              <a:rPr lang="en-GB" sz="2100">
                <a:solidFill>
                  <a:schemeClr val="dk1"/>
                </a:solidFill>
                <a:latin typeface="Calibri"/>
                <a:ea typeface="Calibri"/>
                <a:cs typeface="Calibri"/>
                <a:sym typeface="Calibri"/>
              </a:rPr>
              <a:t> for large-scale data processing.</a:t>
            </a:r>
            <a:endParaRPr sz="2100">
              <a:solidFill>
                <a:schemeClr val="dk1"/>
              </a:solidFill>
              <a:latin typeface="Calibri"/>
              <a:ea typeface="Calibri"/>
              <a:cs typeface="Calibri"/>
              <a:sym typeface="Calibri"/>
            </a:endParaRPr>
          </a:p>
          <a:p>
            <a:pPr marL="457200" lvl="0" indent="-361950" algn="l" rtl="0">
              <a:lnSpc>
                <a:spcPct val="115000"/>
              </a:lnSpc>
              <a:spcBef>
                <a:spcPts val="0"/>
              </a:spcBef>
              <a:spcAft>
                <a:spcPts val="0"/>
              </a:spcAft>
              <a:buClr>
                <a:schemeClr val="dk1"/>
              </a:buClr>
              <a:buSzPts val="2100"/>
              <a:buChar char="●"/>
            </a:pPr>
            <a:r>
              <a:rPr lang="en-GB" sz="2100">
                <a:solidFill>
                  <a:schemeClr val="dk1"/>
                </a:solidFill>
                <a:latin typeface="Calibri"/>
                <a:ea typeface="Calibri"/>
                <a:cs typeface="Calibri"/>
                <a:sym typeface="Calibri"/>
              </a:rPr>
              <a:t>Explore </a:t>
            </a:r>
            <a:r>
              <a:rPr lang="en-GB" sz="2100" b="1">
                <a:solidFill>
                  <a:schemeClr val="dk1"/>
                </a:solidFill>
                <a:latin typeface="Calibri"/>
                <a:ea typeface="Calibri"/>
                <a:cs typeface="Calibri"/>
                <a:sym typeface="Calibri"/>
              </a:rPr>
              <a:t>Docker</a:t>
            </a:r>
            <a:r>
              <a:rPr lang="en-GB" sz="2100">
                <a:solidFill>
                  <a:schemeClr val="dk1"/>
                </a:solidFill>
                <a:latin typeface="Calibri"/>
                <a:ea typeface="Calibri"/>
                <a:cs typeface="Calibri"/>
                <a:sym typeface="Calibri"/>
              </a:rPr>
              <a:t>, </a:t>
            </a:r>
            <a:r>
              <a:rPr lang="en-GB" sz="2100" b="1">
                <a:solidFill>
                  <a:schemeClr val="dk1"/>
                </a:solidFill>
                <a:latin typeface="Calibri"/>
                <a:ea typeface="Calibri"/>
                <a:cs typeface="Calibri"/>
                <a:sym typeface="Calibri"/>
              </a:rPr>
              <a:t>Apache Kafka</a:t>
            </a:r>
            <a:r>
              <a:rPr lang="en-GB" sz="2100">
                <a:solidFill>
                  <a:schemeClr val="dk1"/>
                </a:solidFill>
                <a:latin typeface="Calibri"/>
                <a:ea typeface="Calibri"/>
                <a:cs typeface="Calibri"/>
                <a:sym typeface="Calibri"/>
              </a:rPr>
              <a:t>, and </a:t>
            </a:r>
            <a:r>
              <a:rPr lang="en-GB" sz="2100" b="1">
                <a:solidFill>
                  <a:schemeClr val="dk1"/>
                </a:solidFill>
                <a:latin typeface="Calibri"/>
                <a:ea typeface="Calibri"/>
                <a:cs typeface="Calibri"/>
                <a:sym typeface="Calibri"/>
              </a:rPr>
              <a:t>Apache Airflow</a:t>
            </a:r>
            <a:r>
              <a:rPr lang="en-GB" sz="2100">
                <a:solidFill>
                  <a:schemeClr val="dk1"/>
                </a:solidFill>
                <a:latin typeface="Calibri"/>
                <a:ea typeface="Calibri"/>
                <a:cs typeface="Calibri"/>
                <a:sym typeface="Calibri"/>
              </a:rPr>
              <a:t> for modern data pipeline development.</a:t>
            </a:r>
            <a:endParaRPr sz="2100">
              <a:solidFill>
                <a:schemeClr val="dk1"/>
              </a:solidFill>
              <a:latin typeface="Calibri"/>
              <a:ea typeface="Calibri"/>
              <a:cs typeface="Calibri"/>
              <a:sym typeface="Calibri"/>
            </a:endParaRPr>
          </a:p>
          <a:p>
            <a:pPr marL="457200" lvl="0" indent="-361950" algn="l" rtl="0">
              <a:lnSpc>
                <a:spcPct val="115000"/>
              </a:lnSpc>
              <a:spcBef>
                <a:spcPts val="0"/>
              </a:spcBef>
              <a:spcAft>
                <a:spcPts val="0"/>
              </a:spcAft>
              <a:buClr>
                <a:schemeClr val="dk1"/>
              </a:buClr>
              <a:buSzPts val="2100"/>
              <a:buChar char="●"/>
            </a:pPr>
            <a:r>
              <a:rPr lang="en-GB" sz="2100">
                <a:solidFill>
                  <a:schemeClr val="dk1"/>
                </a:solidFill>
                <a:latin typeface="Calibri"/>
                <a:ea typeface="Calibri"/>
                <a:cs typeface="Calibri"/>
                <a:sym typeface="Calibri"/>
              </a:rPr>
              <a:t>Work with </a:t>
            </a:r>
            <a:r>
              <a:rPr lang="en-GB" sz="2100" b="1">
                <a:solidFill>
                  <a:schemeClr val="dk1"/>
                </a:solidFill>
                <a:latin typeface="Calibri"/>
                <a:ea typeface="Calibri"/>
                <a:cs typeface="Calibri"/>
                <a:sym typeface="Calibri"/>
              </a:rPr>
              <a:t>Azure Data Lake Storage (ADLS)</a:t>
            </a:r>
            <a:r>
              <a:rPr lang="en-GB" sz="2100">
                <a:solidFill>
                  <a:schemeClr val="dk1"/>
                </a:solidFill>
                <a:latin typeface="Calibri"/>
                <a:ea typeface="Calibri"/>
                <a:cs typeface="Calibri"/>
                <a:sym typeface="Calibri"/>
              </a:rPr>
              <a:t>, </a:t>
            </a:r>
            <a:r>
              <a:rPr lang="en-GB" sz="2100" b="1">
                <a:solidFill>
                  <a:schemeClr val="dk1"/>
                </a:solidFill>
                <a:latin typeface="Calibri"/>
                <a:ea typeface="Calibri"/>
                <a:cs typeface="Calibri"/>
                <a:sym typeface="Calibri"/>
              </a:rPr>
              <a:t>Azure Data Factory (ADF)</a:t>
            </a:r>
            <a:r>
              <a:rPr lang="en-GB" sz="2100">
                <a:solidFill>
                  <a:schemeClr val="dk1"/>
                </a:solidFill>
                <a:latin typeface="Calibri"/>
                <a:ea typeface="Calibri"/>
                <a:cs typeface="Calibri"/>
                <a:sym typeface="Calibri"/>
              </a:rPr>
              <a:t>, and </a:t>
            </a:r>
            <a:r>
              <a:rPr lang="en-GB" sz="2100" b="1">
                <a:solidFill>
                  <a:schemeClr val="dk1"/>
                </a:solidFill>
                <a:latin typeface="Calibri"/>
                <a:ea typeface="Calibri"/>
                <a:cs typeface="Calibri"/>
                <a:sym typeface="Calibri"/>
              </a:rPr>
              <a:t>Azure Databricks</a:t>
            </a:r>
            <a:r>
              <a:rPr lang="en-GB" sz="2100">
                <a:solidFill>
                  <a:schemeClr val="dk1"/>
                </a:solidFill>
                <a:latin typeface="Calibri"/>
                <a:ea typeface="Calibri"/>
                <a:cs typeface="Calibri"/>
                <a:sym typeface="Calibri"/>
              </a:rPr>
              <a:t> for cloud-based ETL pipelines.</a:t>
            </a:r>
            <a:endParaRPr sz="2100">
              <a:solidFill>
                <a:schemeClr val="dk1"/>
              </a:solidFill>
              <a:latin typeface="Calibri"/>
              <a:ea typeface="Calibri"/>
              <a:cs typeface="Calibri"/>
              <a:sym typeface="Calibri"/>
            </a:endParaRPr>
          </a:p>
          <a:p>
            <a:pPr marL="457200" lvl="0" indent="-361950" algn="l" rtl="0">
              <a:lnSpc>
                <a:spcPct val="115000"/>
              </a:lnSpc>
              <a:spcBef>
                <a:spcPts val="0"/>
              </a:spcBef>
              <a:spcAft>
                <a:spcPts val="0"/>
              </a:spcAft>
              <a:buClr>
                <a:schemeClr val="dk1"/>
              </a:buClr>
              <a:buSzPts val="2100"/>
              <a:buChar char="●"/>
            </a:pPr>
            <a:r>
              <a:rPr lang="en-GB" sz="2100">
                <a:solidFill>
                  <a:schemeClr val="dk1"/>
                </a:solidFill>
                <a:latin typeface="Calibri"/>
                <a:ea typeface="Calibri"/>
                <a:cs typeface="Calibri"/>
                <a:sym typeface="Calibri"/>
              </a:rPr>
              <a:t>Learn </a:t>
            </a:r>
            <a:r>
              <a:rPr lang="en-GB" sz="2100" b="1">
                <a:solidFill>
                  <a:schemeClr val="dk1"/>
                </a:solidFill>
                <a:latin typeface="Calibri"/>
                <a:ea typeface="Calibri"/>
                <a:cs typeface="Calibri"/>
                <a:sym typeface="Calibri"/>
              </a:rPr>
              <a:t>Delta Lake</a:t>
            </a:r>
            <a:r>
              <a:rPr lang="en-GB" sz="2100">
                <a:solidFill>
                  <a:schemeClr val="dk1"/>
                </a:solidFill>
                <a:latin typeface="Calibri"/>
                <a:ea typeface="Calibri"/>
                <a:cs typeface="Calibri"/>
                <a:sym typeface="Calibri"/>
              </a:rPr>
              <a:t> for reliable and efficient data storage and management.</a:t>
            </a:r>
            <a:endParaRPr sz="2100">
              <a:solidFill>
                <a:schemeClr val="dk1"/>
              </a:solidFill>
              <a:latin typeface="Calibri"/>
              <a:ea typeface="Calibri"/>
              <a:cs typeface="Calibri"/>
              <a:sym typeface="Calibri"/>
            </a:endParaRPr>
          </a:p>
          <a:p>
            <a:pPr marL="457200" lvl="0" indent="-361950" algn="l" rtl="0">
              <a:lnSpc>
                <a:spcPct val="115000"/>
              </a:lnSpc>
              <a:spcBef>
                <a:spcPts val="0"/>
              </a:spcBef>
              <a:spcAft>
                <a:spcPts val="0"/>
              </a:spcAft>
              <a:buClr>
                <a:schemeClr val="dk1"/>
              </a:buClr>
              <a:buSzPts val="2100"/>
              <a:buChar char="●"/>
            </a:pPr>
            <a:r>
              <a:rPr lang="en-GB" sz="2100">
                <a:solidFill>
                  <a:schemeClr val="dk1"/>
                </a:solidFill>
                <a:latin typeface="Calibri"/>
                <a:ea typeface="Calibri"/>
                <a:cs typeface="Calibri"/>
                <a:sym typeface="Calibri"/>
              </a:rPr>
              <a:t>Design and implement an </a:t>
            </a:r>
            <a:r>
              <a:rPr lang="en-GB" sz="2100" b="1">
                <a:solidFill>
                  <a:schemeClr val="dk1"/>
                </a:solidFill>
                <a:latin typeface="Calibri"/>
                <a:ea typeface="Calibri"/>
                <a:cs typeface="Calibri"/>
                <a:sym typeface="Calibri"/>
              </a:rPr>
              <a:t>end-to-end Data Engineering pipeline</a:t>
            </a:r>
            <a:r>
              <a:rPr lang="en-GB" sz="2100">
                <a:solidFill>
                  <a:schemeClr val="dk1"/>
                </a:solidFill>
                <a:latin typeface="Calibri"/>
                <a:ea typeface="Calibri"/>
                <a:cs typeface="Calibri"/>
                <a:sym typeface="Calibri"/>
              </a:rPr>
              <a:t> using Azure services.</a:t>
            </a:r>
            <a:endParaRPr sz="2100">
              <a:solidFill>
                <a:schemeClr val="dk1"/>
              </a:solidFill>
              <a:latin typeface="Calibri"/>
              <a:ea typeface="Calibri"/>
              <a:cs typeface="Calibri"/>
              <a:sym typeface="Calibri"/>
            </a:endParaRPr>
          </a:p>
          <a:p>
            <a:pPr marL="457200" lvl="0" indent="-361950" algn="l" rtl="0">
              <a:lnSpc>
                <a:spcPct val="115000"/>
              </a:lnSpc>
              <a:spcBef>
                <a:spcPts val="0"/>
              </a:spcBef>
              <a:spcAft>
                <a:spcPts val="0"/>
              </a:spcAft>
              <a:buClr>
                <a:schemeClr val="dk1"/>
              </a:buClr>
              <a:buSzPts val="2100"/>
              <a:buChar char="●"/>
            </a:pPr>
            <a:r>
              <a:rPr lang="en-GB" sz="2100">
                <a:solidFill>
                  <a:schemeClr val="dk1"/>
                </a:solidFill>
                <a:latin typeface="Calibri"/>
                <a:ea typeface="Calibri"/>
                <a:cs typeface="Calibri"/>
                <a:sym typeface="Calibri"/>
              </a:rPr>
              <a:t>Apply the acquired skills by developing a </a:t>
            </a:r>
            <a:r>
              <a:rPr lang="en-GB" sz="2100" b="1">
                <a:solidFill>
                  <a:schemeClr val="dk1"/>
                </a:solidFill>
                <a:latin typeface="Calibri"/>
                <a:ea typeface="Calibri"/>
                <a:cs typeface="Calibri"/>
                <a:sym typeface="Calibri"/>
              </a:rPr>
              <a:t>Telecom Customer Churn Data Engineering Project</a:t>
            </a:r>
            <a:r>
              <a:rPr lang="en-GB" sz="2100">
                <a:solidFill>
                  <a:schemeClr val="dk1"/>
                </a:solidFill>
                <a:latin typeface="Calibri"/>
                <a:ea typeface="Calibri"/>
                <a:cs typeface="Calibri"/>
                <a:sym typeface="Calibri"/>
              </a:rPr>
              <a:t>.</a:t>
            </a:r>
            <a:endParaRPr sz="2100">
              <a:solidFill>
                <a:schemeClr val="dk1"/>
              </a:solidFill>
              <a:latin typeface="Calibri"/>
              <a:ea typeface="Calibri"/>
              <a:cs typeface="Calibri"/>
              <a:sym typeface="Calibri"/>
            </a:endParaRPr>
          </a:p>
          <a:p>
            <a:pPr marL="0" marR="0" lvl="0" indent="0" algn="l" rtl="0">
              <a:spcBef>
                <a:spcPts val="1200"/>
              </a:spcBef>
              <a:spcAft>
                <a:spcPts val="0"/>
              </a:spcAft>
              <a:buNone/>
            </a:pPr>
            <a:endParaRPr sz="2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7"/>
          <p:cNvSpPr/>
          <p:nvPr/>
        </p:nvSpPr>
        <p:spPr>
          <a:xfrm>
            <a:off x="2260979" y="218308"/>
            <a:ext cx="9417269" cy="6619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2800" b="1" dirty="0">
                <a:solidFill>
                  <a:schemeClr val="lt1"/>
                </a:solidFill>
                <a:latin typeface="Times New Roman"/>
                <a:ea typeface="Times New Roman"/>
                <a:cs typeface="Times New Roman"/>
                <a:sym typeface="Times New Roman"/>
              </a:rPr>
              <a:t>AI Job Market Intelligence Platform </a:t>
            </a:r>
            <a:endParaRPr sz="2800" b="1" dirty="0">
              <a:solidFill>
                <a:schemeClr val="lt1"/>
              </a:solidFill>
              <a:latin typeface="Times New Roman"/>
              <a:ea typeface="Times New Roman"/>
              <a:cs typeface="Times New Roman"/>
              <a:sym typeface="Times New Roman"/>
            </a:endParaRPr>
          </a:p>
        </p:txBody>
      </p:sp>
      <p:sp>
        <p:nvSpPr>
          <p:cNvPr id="148" name="Google Shape;148;p7"/>
          <p:cNvSpPr/>
          <p:nvPr/>
        </p:nvSpPr>
        <p:spPr>
          <a:xfrm>
            <a:off x="0" y="6615113"/>
            <a:ext cx="12192000" cy="2301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200" b="1">
                <a:solidFill>
                  <a:schemeClr val="lt1"/>
                </a:solidFill>
                <a:latin typeface="Calibri"/>
                <a:ea typeface="Calibri"/>
                <a:cs typeface="Calibri"/>
                <a:sym typeface="Calibri"/>
              </a:rPr>
              <a:t>SKIT, JAIPUR										                                              www.skit.ac.in</a:t>
            </a:r>
            <a:endParaRPr/>
          </a:p>
        </p:txBody>
      </p:sp>
      <p:pic>
        <p:nvPicPr>
          <p:cNvPr id="149" name="Google Shape;149;p7" descr="https://www.skit.ac.in/images/headers/skit_logo.png"/>
          <p:cNvPicPr preferRelativeResize="0"/>
          <p:nvPr/>
        </p:nvPicPr>
        <p:blipFill rotWithShape="1">
          <a:blip r:embed="rId3">
            <a:alphaModFix/>
          </a:blip>
          <a:srcRect/>
          <a:stretch/>
        </p:blipFill>
        <p:spPr>
          <a:xfrm>
            <a:off x="353473" y="174676"/>
            <a:ext cx="1133475" cy="1200150"/>
          </a:xfrm>
          <a:prstGeom prst="rect">
            <a:avLst/>
          </a:prstGeom>
          <a:noFill/>
          <a:ln>
            <a:noFill/>
          </a:ln>
        </p:spPr>
      </p:pic>
      <p:sp>
        <p:nvSpPr>
          <p:cNvPr id="150" name="Google Shape;150;p7"/>
          <p:cNvSpPr/>
          <p:nvPr/>
        </p:nvSpPr>
        <p:spPr>
          <a:xfrm>
            <a:off x="1584960" y="1272209"/>
            <a:ext cx="9984188" cy="5589182"/>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800"/>
              </a:spcBef>
              <a:spcAft>
                <a:spcPts val="0"/>
              </a:spcAft>
              <a:buClr>
                <a:schemeClr val="dk1"/>
              </a:buClr>
              <a:buSzPts val="1100"/>
              <a:buFont typeface="Arial"/>
              <a:buNone/>
            </a:pPr>
            <a:r>
              <a:rPr lang="en-GB" sz="2400" b="1" dirty="0">
                <a:solidFill>
                  <a:schemeClr val="dk1"/>
                </a:solidFill>
                <a:latin typeface="Calibri"/>
                <a:ea typeface="Calibri"/>
                <a:cs typeface="Calibri"/>
                <a:sym typeface="Calibri"/>
              </a:rPr>
              <a:t>Project Overview</a:t>
            </a:r>
            <a:endParaRPr sz="2400" b="1" dirty="0">
              <a:solidFill>
                <a:schemeClr val="dk1"/>
              </a:solidFill>
              <a:latin typeface="Calibri"/>
              <a:ea typeface="Calibri"/>
              <a:cs typeface="Calibri"/>
              <a:sym typeface="Calibri"/>
            </a:endParaRPr>
          </a:p>
          <a:p>
            <a:pPr marL="457200" indent="-381000">
              <a:lnSpc>
                <a:spcPct val="115000"/>
              </a:lnSpc>
              <a:spcBef>
                <a:spcPts val="1200"/>
              </a:spcBef>
              <a:buClr>
                <a:schemeClr val="dk1"/>
              </a:buClr>
              <a:buSzPts val="2400"/>
              <a:buFont typeface="Arial"/>
              <a:buChar char="●"/>
            </a:pPr>
            <a:r>
              <a:rPr lang="en-GB" sz="1800" b="1" dirty="0">
                <a:solidFill>
                  <a:schemeClr val="dk1"/>
                </a:solidFill>
                <a:latin typeface="+mj-lt"/>
                <a:ea typeface="Calibri"/>
                <a:cs typeface="Calibri"/>
                <a:sym typeface="Calibri"/>
              </a:rPr>
              <a:t>Project:</a:t>
            </a:r>
            <a:r>
              <a:rPr lang="en-GB" sz="1800" dirty="0">
                <a:solidFill>
                  <a:schemeClr val="dk1"/>
                </a:solidFill>
                <a:latin typeface="+mj-lt"/>
                <a:ea typeface="Calibri"/>
                <a:cs typeface="Calibri"/>
                <a:sym typeface="Calibri"/>
              </a:rPr>
              <a:t> </a:t>
            </a:r>
            <a:r>
              <a:rPr lang="da-DK" sz="1800" dirty="0">
                <a:latin typeface="+mj-lt"/>
              </a:rPr>
              <a:t> AI Job Market Intelligence Platform</a:t>
            </a:r>
          </a:p>
          <a:p>
            <a:pPr marL="457200" indent="-381000">
              <a:lnSpc>
                <a:spcPct val="115000"/>
              </a:lnSpc>
              <a:spcBef>
                <a:spcPts val="1200"/>
              </a:spcBef>
              <a:buClr>
                <a:schemeClr val="dk1"/>
              </a:buClr>
              <a:buSzPts val="2400"/>
              <a:buFont typeface="Arial"/>
              <a:buChar char="●"/>
            </a:pPr>
            <a:r>
              <a:rPr lang="en-GB" sz="1800" dirty="0">
                <a:latin typeface="+mj-lt"/>
              </a:rPr>
              <a:t>Built an end-to-end data engineering pipeline using Microsoft Azure to process approximately 500,000 job records.</a:t>
            </a:r>
          </a:p>
          <a:p>
            <a:pPr marL="457200" indent="-381000">
              <a:lnSpc>
                <a:spcPct val="115000"/>
              </a:lnSpc>
              <a:spcBef>
                <a:spcPts val="1200"/>
              </a:spcBef>
              <a:buClr>
                <a:schemeClr val="dk1"/>
              </a:buClr>
              <a:buSzPts val="2400"/>
              <a:buFont typeface="Arial"/>
              <a:buChar char="●"/>
            </a:pPr>
            <a:r>
              <a:rPr lang="en-GB" sz="1800" dirty="0">
                <a:latin typeface="+mj-lt"/>
              </a:rPr>
              <a:t>Implemented Bronze–Silver–Gold architecture using Azure Databricks, </a:t>
            </a:r>
            <a:r>
              <a:rPr lang="en-GB" sz="1800" dirty="0" err="1">
                <a:latin typeface="+mj-lt"/>
              </a:rPr>
              <a:t>PySpark</a:t>
            </a:r>
            <a:r>
              <a:rPr lang="en-GB" sz="1800" dirty="0">
                <a:latin typeface="+mj-lt"/>
              </a:rPr>
              <a:t>, and Delta Lake.</a:t>
            </a:r>
          </a:p>
          <a:p>
            <a:pPr marL="457200" indent="-381000">
              <a:lnSpc>
                <a:spcPct val="115000"/>
              </a:lnSpc>
              <a:spcBef>
                <a:spcPts val="1200"/>
              </a:spcBef>
              <a:buClr>
                <a:schemeClr val="dk1"/>
              </a:buClr>
              <a:buSzPts val="2400"/>
              <a:buFont typeface="Arial"/>
              <a:buChar char="●"/>
            </a:pPr>
            <a:r>
              <a:rPr lang="en-GB" sz="1800" dirty="0">
                <a:latin typeface="+mj-lt"/>
              </a:rPr>
              <a:t>Automated data ingestion using Azure Data Factory and Storage Event Triggers.</a:t>
            </a:r>
          </a:p>
          <a:p>
            <a:pPr marL="457200" indent="-381000">
              <a:lnSpc>
                <a:spcPct val="115000"/>
              </a:lnSpc>
              <a:spcBef>
                <a:spcPts val="1200"/>
              </a:spcBef>
              <a:buClr>
                <a:schemeClr val="dk1"/>
              </a:buClr>
              <a:buSzPts val="2400"/>
              <a:buFont typeface="Arial"/>
              <a:buChar char="●"/>
            </a:pPr>
            <a:r>
              <a:rPr lang="en-GB" sz="1800" dirty="0">
                <a:latin typeface="+mj-lt"/>
              </a:rPr>
              <a:t>Loaded analytical data into Azure SQL Database using Spark JDBC.</a:t>
            </a:r>
          </a:p>
          <a:p>
            <a:pPr marL="457200" indent="-381000">
              <a:lnSpc>
                <a:spcPct val="115000"/>
              </a:lnSpc>
              <a:spcBef>
                <a:spcPts val="1200"/>
              </a:spcBef>
              <a:buClr>
                <a:schemeClr val="dk1"/>
              </a:buClr>
              <a:buSzPts val="2400"/>
              <a:buFont typeface="Arial"/>
              <a:buChar char="●"/>
            </a:pPr>
            <a:r>
              <a:rPr lang="en-GB" sz="1800" dirty="0">
                <a:latin typeface="+mj-lt"/>
              </a:rPr>
              <a:t>Created interactive Power BI dashboards to </a:t>
            </a:r>
            <a:r>
              <a:rPr lang="en-GB" sz="1800" dirty="0" err="1">
                <a:latin typeface="+mj-lt"/>
              </a:rPr>
              <a:t>analyze</a:t>
            </a:r>
            <a:r>
              <a:rPr lang="en-GB" sz="1800" dirty="0">
                <a:latin typeface="+mj-lt"/>
              </a:rPr>
              <a:t> job trends, skills, salaries, and technology demand.</a:t>
            </a:r>
          </a:p>
          <a:p>
            <a:pPr marL="457200" indent="-381000">
              <a:lnSpc>
                <a:spcPct val="115000"/>
              </a:lnSpc>
              <a:spcBef>
                <a:spcPts val="1200"/>
              </a:spcBef>
              <a:buClr>
                <a:schemeClr val="dk1"/>
              </a:buClr>
              <a:buSzPts val="2400"/>
              <a:buFont typeface="Arial"/>
              <a:buChar char="●"/>
            </a:pPr>
            <a:endParaRPr lang="en-GB" sz="1800" dirty="0">
              <a:latin typeface="+mj-lt"/>
            </a:endParaRPr>
          </a:p>
          <a:p>
            <a:pPr marL="457200" indent="-381000">
              <a:lnSpc>
                <a:spcPct val="115000"/>
              </a:lnSpc>
              <a:spcBef>
                <a:spcPts val="1200"/>
              </a:spcBef>
              <a:buClr>
                <a:schemeClr val="dk1"/>
              </a:buClr>
              <a:buSzPts val="2400"/>
              <a:buFont typeface="Arial"/>
              <a:buChar char="●"/>
            </a:pPr>
            <a:endParaRPr sz="2400" b="1"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7"/>
          <p:cNvSpPr/>
          <p:nvPr/>
        </p:nvSpPr>
        <p:spPr>
          <a:xfrm>
            <a:off x="2260979" y="218308"/>
            <a:ext cx="9417269" cy="6619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2800" b="1" dirty="0">
                <a:solidFill>
                  <a:schemeClr val="lt1"/>
                </a:solidFill>
                <a:latin typeface="Times New Roman"/>
                <a:ea typeface="Times New Roman"/>
                <a:cs typeface="Times New Roman"/>
                <a:sym typeface="Times New Roman"/>
              </a:rPr>
              <a:t>AI Job Market Intelligence Platform </a:t>
            </a:r>
            <a:endParaRPr sz="2800" b="1" dirty="0">
              <a:solidFill>
                <a:schemeClr val="lt1"/>
              </a:solidFill>
              <a:latin typeface="Times New Roman"/>
              <a:ea typeface="Times New Roman"/>
              <a:cs typeface="Times New Roman"/>
              <a:sym typeface="Times New Roman"/>
            </a:endParaRPr>
          </a:p>
        </p:txBody>
      </p:sp>
      <p:sp>
        <p:nvSpPr>
          <p:cNvPr id="148" name="Google Shape;148;p7"/>
          <p:cNvSpPr/>
          <p:nvPr/>
        </p:nvSpPr>
        <p:spPr>
          <a:xfrm>
            <a:off x="0" y="6615113"/>
            <a:ext cx="12192000" cy="2301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200" b="1">
                <a:solidFill>
                  <a:schemeClr val="lt1"/>
                </a:solidFill>
                <a:latin typeface="Calibri"/>
                <a:ea typeface="Calibri"/>
                <a:cs typeface="Calibri"/>
                <a:sym typeface="Calibri"/>
              </a:rPr>
              <a:t>SKIT, JAIPUR										                                              www.skit.ac.in</a:t>
            </a:r>
            <a:endParaRPr/>
          </a:p>
        </p:txBody>
      </p:sp>
      <p:pic>
        <p:nvPicPr>
          <p:cNvPr id="149" name="Google Shape;149;p7" descr="https://www.skit.ac.in/images/headers/skit_logo.png"/>
          <p:cNvPicPr preferRelativeResize="0"/>
          <p:nvPr/>
        </p:nvPicPr>
        <p:blipFill rotWithShape="1">
          <a:blip r:embed="rId3">
            <a:alphaModFix/>
          </a:blip>
          <a:srcRect/>
          <a:stretch/>
        </p:blipFill>
        <p:spPr>
          <a:xfrm>
            <a:off x="353473" y="174676"/>
            <a:ext cx="1133475" cy="1200150"/>
          </a:xfrm>
          <a:prstGeom prst="rect">
            <a:avLst/>
          </a:prstGeom>
          <a:noFill/>
          <a:ln>
            <a:noFill/>
          </a:ln>
        </p:spPr>
      </p:pic>
      <p:sp>
        <p:nvSpPr>
          <p:cNvPr id="150" name="Google Shape;150;p7"/>
          <p:cNvSpPr/>
          <p:nvPr/>
        </p:nvSpPr>
        <p:spPr>
          <a:xfrm>
            <a:off x="1584960" y="1272209"/>
            <a:ext cx="9984188" cy="3522462"/>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800"/>
              </a:spcBef>
              <a:spcAft>
                <a:spcPts val="0"/>
              </a:spcAft>
              <a:buClr>
                <a:schemeClr val="dk1"/>
              </a:buClr>
              <a:buSzPts val="1100"/>
              <a:buFont typeface="Arial"/>
              <a:buNone/>
            </a:pPr>
            <a:r>
              <a:rPr lang="en-GB" sz="2400" b="1" dirty="0">
                <a:solidFill>
                  <a:schemeClr val="dk1"/>
                </a:solidFill>
                <a:latin typeface="Calibri"/>
                <a:ea typeface="Calibri"/>
                <a:cs typeface="Calibri"/>
                <a:sym typeface="Calibri"/>
              </a:rPr>
              <a:t>Problem Statement:</a:t>
            </a:r>
          </a:p>
          <a:p>
            <a:pPr>
              <a:lnSpc>
                <a:spcPct val="115000"/>
              </a:lnSpc>
              <a:spcBef>
                <a:spcPts val="1800"/>
              </a:spcBef>
              <a:buClr>
                <a:schemeClr val="dk1"/>
              </a:buClr>
              <a:buSzPts val="1100"/>
            </a:pPr>
            <a:r>
              <a:rPr lang="en-GB" sz="1600" b="1" dirty="0">
                <a:solidFill>
                  <a:schemeClr val="dk1"/>
                </a:solidFill>
                <a:latin typeface="+mj-lt"/>
                <a:ea typeface="Calibri"/>
                <a:cs typeface="Calibri"/>
                <a:sym typeface="Calibri"/>
              </a:rPr>
              <a:t>	</a:t>
            </a:r>
            <a:r>
              <a:rPr lang="en-GB" sz="1600" dirty="0">
                <a:latin typeface="+mj-lt"/>
              </a:rPr>
              <a:t>Finding useful information from large amounts of job market data is not easy. It takes time to identify which skills are in demand, which companies are hiring, and what salaries are being offered. Manually managing and </a:t>
            </a:r>
            <a:r>
              <a:rPr lang="en-GB" sz="1600" dirty="0" err="1">
                <a:latin typeface="+mj-lt"/>
              </a:rPr>
              <a:t>analyzing</a:t>
            </a:r>
            <a:r>
              <a:rPr lang="en-GB" sz="1600" dirty="0">
                <a:latin typeface="+mj-lt"/>
              </a:rPr>
              <a:t> this data can also lead to errors and outdated information. This project aims to automate the process of collecting, processing, and </a:t>
            </a:r>
            <a:r>
              <a:rPr lang="en-GB" sz="1600" dirty="0" err="1">
                <a:latin typeface="+mj-lt"/>
              </a:rPr>
              <a:t>analyzing</a:t>
            </a:r>
            <a:r>
              <a:rPr lang="en-GB" sz="1600" dirty="0">
                <a:latin typeface="+mj-lt"/>
              </a:rPr>
              <a:t> job data using Azure and presenting the results through Power </a:t>
            </a:r>
            <a:r>
              <a:rPr lang="en-GB" sz="1600">
                <a:latin typeface="+mj-lt"/>
              </a:rPr>
              <a:t>BI dashboards.</a:t>
            </a:r>
            <a:endParaRPr lang="en-GB" sz="1600" dirty="0">
              <a:latin typeface="+mj-lt"/>
            </a:endParaRPr>
          </a:p>
          <a:p>
            <a:pPr marL="0" lvl="0" indent="0" algn="l" rtl="0">
              <a:lnSpc>
                <a:spcPct val="115000"/>
              </a:lnSpc>
              <a:spcBef>
                <a:spcPts val="1800"/>
              </a:spcBef>
              <a:spcAft>
                <a:spcPts val="0"/>
              </a:spcAft>
              <a:buClr>
                <a:schemeClr val="dk1"/>
              </a:buClr>
              <a:buSzPts val="1100"/>
              <a:buFont typeface="Arial"/>
              <a:buNone/>
            </a:pPr>
            <a:endParaRPr lang="en-GB" sz="1800" dirty="0">
              <a:latin typeface="+mj-lt"/>
            </a:endParaRPr>
          </a:p>
          <a:p>
            <a:pPr marL="457200" indent="-381000">
              <a:lnSpc>
                <a:spcPct val="115000"/>
              </a:lnSpc>
              <a:spcBef>
                <a:spcPts val="1200"/>
              </a:spcBef>
              <a:buClr>
                <a:schemeClr val="dk1"/>
              </a:buClr>
              <a:buSzPts val="2400"/>
              <a:buFont typeface="Arial"/>
              <a:buChar char="●"/>
            </a:pPr>
            <a:endParaRPr sz="2400" b="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43971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6" name="Google Shape;156;p8"/>
          <p:cNvSpPr txBox="1"/>
          <p:nvPr/>
        </p:nvSpPr>
        <p:spPr>
          <a:xfrm>
            <a:off x="3820199" y="171875"/>
            <a:ext cx="4551600" cy="646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3600" b="1">
                <a:solidFill>
                  <a:schemeClr val="dk1"/>
                </a:solidFill>
                <a:latin typeface="Comfortaa"/>
                <a:ea typeface="Comfortaa"/>
                <a:cs typeface="Comfortaa"/>
                <a:sym typeface="Comfortaa"/>
              </a:rPr>
              <a:t>Project Workflow</a:t>
            </a:r>
            <a:endParaRPr sz="3600" b="1">
              <a:solidFill>
                <a:schemeClr val="dk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4C26083E-4E0E-E5FE-A5EF-31C4E667FB43}"/>
              </a:ext>
            </a:extLst>
          </p:cNvPr>
          <p:cNvPicPr>
            <a:picLocks noChangeAspect="1"/>
          </p:cNvPicPr>
          <p:nvPr/>
        </p:nvPicPr>
        <p:blipFill>
          <a:blip r:embed="rId3"/>
          <a:stretch>
            <a:fillRect/>
          </a:stretch>
        </p:blipFill>
        <p:spPr>
          <a:xfrm>
            <a:off x="812800" y="171875"/>
            <a:ext cx="9966960" cy="56093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9"/>
          <p:cNvSpPr txBox="1"/>
          <p:nvPr/>
        </p:nvSpPr>
        <p:spPr>
          <a:xfrm>
            <a:off x="4306217" y="377241"/>
            <a:ext cx="4065000" cy="646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3600" b="1">
                <a:solidFill>
                  <a:schemeClr val="dk1"/>
                </a:solidFill>
                <a:latin typeface="Comfortaa"/>
                <a:ea typeface="Comfortaa"/>
                <a:cs typeface="Comfortaa"/>
                <a:sym typeface="Comfortaa"/>
              </a:rPr>
              <a:t>Resource Group</a:t>
            </a:r>
            <a:endParaRPr sz="3600" b="1">
              <a:solidFill>
                <a:schemeClr val="dk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4B787744-ACA2-B951-F42A-78D02C9DF3A7}"/>
              </a:ext>
            </a:extLst>
          </p:cNvPr>
          <p:cNvPicPr>
            <a:picLocks noChangeAspect="1"/>
          </p:cNvPicPr>
          <p:nvPr/>
        </p:nvPicPr>
        <p:blipFill>
          <a:blip r:embed="rId3"/>
          <a:stretch>
            <a:fillRect/>
          </a:stretch>
        </p:blipFill>
        <p:spPr>
          <a:xfrm>
            <a:off x="924560" y="1390704"/>
            <a:ext cx="10678160" cy="49630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10"/>
          <p:cNvSpPr txBox="1"/>
          <p:nvPr/>
        </p:nvSpPr>
        <p:spPr>
          <a:xfrm>
            <a:off x="4039950" y="180650"/>
            <a:ext cx="411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2800" b="1" dirty="0">
                <a:solidFill>
                  <a:schemeClr val="dk1"/>
                </a:solidFill>
                <a:latin typeface="Comfortaa"/>
                <a:ea typeface="Comfortaa"/>
                <a:cs typeface="Comfortaa"/>
                <a:sym typeface="Comfortaa"/>
              </a:rPr>
              <a:t>Data </a:t>
            </a:r>
            <a:endParaRPr sz="2800" b="1" dirty="0">
              <a:solidFill>
                <a:schemeClr val="dk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8B1E42C0-95A3-1C7D-208B-0E5F0B2B7B5A}"/>
              </a:ext>
            </a:extLst>
          </p:cNvPr>
          <p:cNvPicPr>
            <a:picLocks noChangeAspect="1"/>
          </p:cNvPicPr>
          <p:nvPr/>
        </p:nvPicPr>
        <p:blipFill>
          <a:blip r:embed="rId3"/>
          <a:stretch>
            <a:fillRect/>
          </a:stretch>
        </p:blipFill>
        <p:spPr>
          <a:xfrm>
            <a:off x="528729" y="1534160"/>
            <a:ext cx="11134541" cy="40077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4" name="Google Shape;174;p11"/>
          <p:cNvSpPr txBox="1"/>
          <p:nvPr/>
        </p:nvSpPr>
        <p:spPr>
          <a:xfrm>
            <a:off x="3791850" y="414300"/>
            <a:ext cx="4608300" cy="646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3600" b="1">
                <a:solidFill>
                  <a:schemeClr val="dk1"/>
                </a:solidFill>
                <a:latin typeface="Comfortaa"/>
                <a:ea typeface="Comfortaa"/>
                <a:cs typeface="Comfortaa"/>
                <a:sym typeface="Comfortaa"/>
              </a:rPr>
              <a:t>ETL Pipeline Flow</a:t>
            </a:r>
            <a:endParaRPr sz="3600" b="1">
              <a:solidFill>
                <a:schemeClr val="dk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ED24AE66-FDBA-3056-DFCD-65689DFF4B3D}"/>
              </a:ext>
            </a:extLst>
          </p:cNvPr>
          <p:cNvPicPr>
            <a:picLocks noChangeAspect="1"/>
          </p:cNvPicPr>
          <p:nvPr/>
        </p:nvPicPr>
        <p:blipFill>
          <a:blip r:embed="rId3"/>
          <a:stretch>
            <a:fillRect/>
          </a:stretch>
        </p:blipFill>
        <p:spPr>
          <a:xfrm>
            <a:off x="1317972" y="2519680"/>
            <a:ext cx="10448017" cy="258198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18"/>
          <p:cNvSpPr txBox="1"/>
          <p:nvPr/>
        </p:nvSpPr>
        <p:spPr>
          <a:xfrm>
            <a:off x="1966200" y="310725"/>
            <a:ext cx="8259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chemeClr val="dk1"/>
                </a:solidFill>
                <a:latin typeface="Comfortaa"/>
                <a:ea typeface="Comfortaa"/>
                <a:cs typeface="Comfortaa"/>
                <a:sym typeface="Comfortaa"/>
              </a:rPr>
              <a:t>Automated Trigger for new data</a:t>
            </a:r>
            <a:endParaRPr sz="3600" b="1">
              <a:solidFill>
                <a:schemeClr val="dk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8613FF4E-4858-256B-ABDB-42F4560092BA}"/>
              </a:ext>
            </a:extLst>
          </p:cNvPr>
          <p:cNvPicPr>
            <a:picLocks noChangeAspect="1"/>
          </p:cNvPicPr>
          <p:nvPr/>
        </p:nvPicPr>
        <p:blipFill>
          <a:blip r:embed="rId3"/>
          <a:stretch>
            <a:fillRect/>
          </a:stretch>
        </p:blipFill>
        <p:spPr>
          <a:xfrm>
            <a:off x="650240" y="1440275"/>
            <a:ext cx="11094720" cy="45492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20"/>
          <p:cNvSpPr txBox="1"/>
          <p:nvPr/>
        </p:nvSpPr>
        <p:spPr>
          <a:xfrm>
            <a:off x="2217900" y="401375"/>
            <a:ext cx="77562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dk1"/>
                </a:solidFill>
                <a:latin typeface="Comfortaa"/>
                <a:ea typeface="Comfortaa"/>
                <a:cs typeface="Comfortaa"/>
                <a:sym typeface="Comfortaa"/>
              </a:rPr>
              <a:t>PowerBI generated Dashboard</a:t>
            </a:r>
            <a:endParaRPr sz="3600" b="1">
              <a:solidFill>
                <a:schemeClr val="dk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865D0E77-0C59-F1F7-60E9-A58D5403401A}"/>
              </a:ext>
            </a:extLst>
          </p:cNvPr>
          <p:cNvPicPr>
            <a:picLocks noChangeAspect="1"/>
          </p:cNvPicPr>
          <p:nvPr/>
        </p:nvPicPr>
        <p:blipFill>
          <a:blip r:embed="rId3"/>
          <a:stretch>
            <a:fillRect/>
          </a:stretch>
        </p:blipFill>
        <p:spPr>
          <a:xfrm>
            <a:off x="1839861" y="1028492"/>
            <a:ext cx="8512278" cy="48010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20"/>
          <p:cNvSpPr txBox="1"/>
          <p:nvPr/>
        </p:nvSpPr>
        <p:spPr>
          <a:xfrm>
            <a:off x="2217900" y="401375"/>
            <a:ext cx="77562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dk1"/>
                </a:solidFill>
                <a:latin typeface="Comfortaa"/>
                <a:ea typeface="Comfortaa"/>
                <a:cs typeface="Comfortaa"/>
                <a:sym typeface="Comfortaa"/>
              </a:rPr>
              <a:t>PowerBI generated Dashboard</a:t>
            </a:r>
            <a:endParaRPr sz="3600" b="1">
              <a:solidFill>
                <a:schemeClr val="dk1"/>
              </a:solidFill>
              <a:latin typeface="Comfortaa"/>
              <a:ea typeface="Comfortaa"/>
              <a:cs typeface="Comfortaa"/>
              <a:sym typeface="Comfortaa"/>
            </a:endParaRPr>
          </a:p>
        </p:txBody>
      </p:sp>
      <p:pic>
        <p:nvPicPr>
          <p:cNvPr id="4" name="Picture 3">
            <a:extLst>
              <a:ext uri="{FF2B5EF4-FFF2-40B4-BE49-F238E27FC236}">
                <a16:creationId xmlns:a16="http://schemas.microsoft.com/office/drawing/2014/main" id="{1A9F7077-1716-0711-4D6D-5A9C0141F06B}"/>
              </a:ext>
            </a:extLst>
          </p:cNvPr>
          <p:cNvPicPr>
            <a:picLocks noChangeAspect="1"/>
          </p:cNvPicPr>
          <p:nvPr/>
        </p:nvPicPr>
        <p:blipFill>
          <a:blip r:embed="rId3"/>
          <a:stretch>
            <a:fillRect/>
          </a:stretch>
        </p:blipFill>
        <p:spPr>
          <a:xfrm>
            <a:off x="1839861" y="1028492"/>
            <a:ext cx="8512278" cy="4801016"/>
          </a:xfrm>
          <a:prstGeom prst="rect">
            <a:avLst/>
          </a:prstGeom>
        </p:spPr>
      </p:pic>
      <p:pic>
        <p:nvPicPr>
          <p:cNvPr id="6" name="Picture 5">
            <a:extLst>
              <a:ext uri="{FF2B5EF4-FFF2-40B4-BE49-F238E27FC236}">
                <a16:creationId xmlns:a16="http://schemas.microsoft.com/office/drawing/2014/main" id="{8FFEC694-291B-F31C-8724-092932081283}"/>
              </a:ext>
            </a:extLst>
          </p:cNvPr>
          <p:cNvPicPr>
            <a:picLocks noChangeAspect="1"/>
          </p:cNvPicPr>
          <p:nvPr/>
        </p:nvPicPr>
        <p:blipFill>
          <a:blip r:embed="rId3"/>
          <a:stretch>
            <a:fillRect/>
          </a:stretch>
        </p:blipFill>
        <p:spPr>
          <a:xfrm>
            <a:off x="1839861" y="1028492"/>
            <a:ext cx="8512278" cy="4801016"/>
          </a:xfrm>
          <a:prstGeom prst="rect">
            <a:avLst/>
          </a:prstGeom>
        </p:spPr>
      </p:pic>
    </p:spTree>
    <p:extLst>
      <p:ext uri="{BB962C8B-B14F-4D97-AF65-F5344CB8AC3E}">
        <p14:creationId xmlns:p14="http://schemas.microsoft.com/office/powerpoint/2010/main" val="3760511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20"/>
          <p:cNvSpPr txBox="1"/>
          <p:nvPr/>
        </p:nvSpPr>
        <p:spPr>
          <a:xfrm>
            <a:off x="2217900" y="401375"/>
            <a:ext cx="77562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dk1"/>
                </a:solidFill>
                <a:latin typeface="Comfortaa"/>
                <a:ea typeface="Comfortaa"/>
                <a:cs typeface="Comfortaa"/>
                <a:sym typeface="Comfortaa"/>
              </a:rPr>
              <a:t>PowerBI generated Dashboard</a:t>
            </a:r>
            <a:endParaRPr sz="3600" b="1">
              <a:solidFill>
                <a:schemeClr val="dk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5691B879-69CA-ED48-85B7-9A265B0C6147}"/>
              </a:ext>
            </a:extLst>
          </p:cNvPr>
          <p:cNvPicPr>
            <a:picLocks noChangeAspect="1"/>
          </p:cNvPicPr>
          <p:nvPr/>
        </p:nvPicPr>
        <p:blipFill>
          <a:blip r:embed="rId3"/>
          <a:stretch>
            <a:fillRect/>
          </a:stretch>
        </p:blipFill>
        <p:spPr>
          <a:xfrm>
            <a:off x="1836051" y="998009"/>
            <a:ext cx="8519898" cy="4861981"/>
          </a:xfrm>
          <a:prstGeom prst="rect">
            <a:avLst/>
          </a:prstGeom>
        </p:spPr>
      </p:pic>
    </p:spTree>
    <p:extLst>
      <p:ext uri="{BB962C8B-B14F-4D97-AF65-F5344CB8AC3E}">
        <p14:creationId xmlns:p14="http://schemas.microsoft.com/office/powerpoint/2010/main" val="762860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2"/>
          <p:cNvSpPr/>
          <p:nvPr/>
        </p:nvSpPr>
        <p:spPr>
          <a:xfrm>
            <a:off x="2260979" y="218308"/>
            <a:ext cx="9417269" cy="6619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GB" sz="3200" b="1" dirty="0">
                <a:solidFill>
                  <a:schemeClr val="lt1"/>
                </a:solidFill>
                <a:latin typeface="Times New Roman"/>
                <a:ea typeface="Times New Roman"/>
                <a:cs typeface="Times New Roman"/>
                <a:sym typeface="Times New Roman"/>
              </a:rPr>
              <a:t>Future Scope</a:t>
            </a:r>
            <a:endParaRPr sz="3200" b="1"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endParaRPr sz="2800" b="1" dirty="0">
              <a:solidFill>
                <a:schemeClr val="lt1"/>
              </a:solidFill>
              <a:latin typeface="Times New Roman"/>
              <a:ea typeface="Times New Roman"/>
              <a:cs typeface="Times New Roman"/>
              <a:sym typeface="Times New Roman"/>
            </a:endParaRPr>
          </a:p>
        </p:txBody>
      </p:sp>
      <p:sp>
        <p:nvSpPr>
          <p:cNvPr id="198" name="Google Shape;198;p22"/>
          <p:cNvSpPr/>
          <p:nvPr/>
        </p:nvSpPr>
        <p:spPr>
          <a:xfrm>
            <a:off x="0" y="6615113"/>
            <a:ext cx="12192000" cy="2301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200" b="1">
                <a:solidFill>
                  <a:schemeClr val="lt1"/>
                </a:solidFill>
                <a:latin typeface="Calibri"/>
                <a:ea typeface="Calibri"/>
                <a:cs typeface="Calibri"/>
                <a:sym typeface="Calibri"/>
              </a:rPr>
              <a:t>SKIT, JAIPUR										                                              www.skit.ac.in</a:t>
            </a:r>
            <a:endParaRPr/>
          </a:p>
        </p:txBody>
      </p:sp>
      <p:pic>
        <p:nvPicPr>
          <p:cNvPr id="199" name="Google Shape;199;p22" descr="https://www.skit.ac.in/images/headers/skit_logo.png"/>
          <p:cNvPicPr preferRelativeResize="0"/>
          <p:nvPr/>
        </p:nvPicPr>
        <p:blipFill rotWithShape="1">
          <a:blip r:embed="rId3">
            <a:alphaModFix/>
          </a:blip>
          <a:srcRect/>
          <a:stretch/>
        </p:blipFill>
        <p:spPr>
          <a:xfrm>
            <a:off x="173751" y="20219"/>
            <a:ext cx="1133475" cy="1200150"/>
          </a:xfrm>
          <a:prstGeom prst="rect">
            <a:avLst/>
          </a:prstGeom>
          <a:noFill/>
          <a:ln>
            <a:noFill/>
          </a:ln>
        </p:spPr>
      </p:pic>
      <p:sp>
        <p:nvSpPr>
          <p:cNvPr id="200" name="Google Shape;200;p22"/>
          <p:cNvSpPr txBox="1"/>
          <p:nvPr/>
        </p:nvSpPr>
        <p:spPr>
          <a:xfrm>
            <a:off x="1722495" y="2143547"/>
            <a:ext cx="9417300" cy="1754286"/>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Font typeface="Arial" panose="020B0604020202020204" pitchFamily="34" charset="0"/>
              <a:buChar char="•"/>
            </a:pPr>
            <a:r>
              <a:rPr lang="en-IN" sz="1800" dirty="0"/>
              <a:t>Integrate r</a:t>
            </a:r>
            <a:r>
              <a:rPr lang="en-GB" sz="1800" dirty="0" err="1"/>
              <a:t>eal</a:t>
            </a:r>
            <a:r>
              <a:rPr lang="en-GB" sz="1800" dirty="0"/>
              <a:t>-time job market data from APIs.</a:t>
            </a:r>
          </a:p>
          <a:p>
            <a:pPr marL="285750" marR="0" lvl="0" indent="-285750" algn="l" rtl="0">
              <a:spcBef>
                <a:spcPts val="0"/>
              </a:spcBef>
              <a:spcAft>
                <a:spcPts val="0"/>
              </a:spcAft>
              <a:buFont typeface="Arial" panose="020B0604020202020204" pitchFamily="34" charset="0"/>
              <a:buChar char="•"/>
            </a:pPr>
            <a:r>
              <a:rPr lang="en-GB" sz="1800" dirty="0"/>
              <a:t>Implement advanced AI/ML models for job demand and salary prediction.</a:t>
            </a:r>
          </a:p>
          <a:p>
            <a:pPr marL="285750" marR="0" lvl="0" indent="-285750" algn="l" rtl="0">
              <a:spcBef>
                <a:spcPts val="0"/>
              </a:spcBef>
              <a:spcAft>
                <a:spcPts val="0"/>
              </a:spcAft>
              <a:buFont typeface="Arial" panose="020B0604020202020204" pitchFamily="34" charset="0"/>
              <a:buChar char="•"/>
            </a:pPr>
            <a:r>
              <a:rPr lang="en-IN" sz="1800" dirty="0"/>
              <a:t>Optimize pipeline performance for larger datasets</a:t>
            </a:r>
            <a:r>
              <a:rPr lang="en-GB" sz="1800" dirty="0"/>
              <a:t>.</a:t>
            </a:r>
          </a:p>
          <a:p>
            <a:pPr marL="285750" marR="0" lvl="0" indent="-285750" algn="l" rtl="0">
              <a:spcBef>
                <a:spcPts val="0"/>
              </a:spcBef>
              <a:spcAft>
                <a:spcPts val="0"/>
              </a:spcAft>
              <a:buFont typeface="Arial" panose="020B0604020202020204" pitchFamily="34" charset="0"/>
              <a:buChar char="•"/>
            </a:pPr>
            <a:r>
              <a:rPr lang="en-GB" sz="1800" dirty="0"/>
              <a:t>Enhance data quality monitoring and error handling</a:t>
            </a:r>
          </a:p>
          <a:p>
            <a:pPr marL="285750" marR="0" lvl="0" indent="-285750" algn="l" rtl="0">
              <a:spcBef>
                <a:spcPts val="0"/>
              </a:spcBef>
              <a:spcAft>
                <a:spcPts val="0"/>
              </a:spcAft>
              <a:buFont typeface="Arial" panose="020B0604020202020204" pitchFamily="34" charset="0"/>
              <a:buChar char="•"/>
            </a:pPr>
            <a:r>
              <a:rPr lang="en-GB" sz="1800" dirty="0"/>
              <a:t>Automate Power BI dashboard refresh and reporting</a:t>
            </a:r>
          </a:p>
          <a:p>
            <a:pPr marL="285750" marR="0" lvl="0" indent="-285750" algn="l" rtl="0">
              <a:spcBef>
                <a:spcPts val="0"/>
              </a:spcBef>
              <a:spcAft>
                <a:spcPts val="0"/>
              </a:spcAft>
              <a:buFont typeface="Arial" panose="020B0604020202020204" pitchFamily="34" charset="0"/>
              <a:buChar char="•"/>
            </a:pPr>
            <a:r>
              <a:rPr lang="en-GB" sz="1800" dirty="0"/>
              <a:t>Deploy the platform with scalable, secure cloud infrastructure</a:t>
            </a:r>
            <a:endParaRPr sz="1800" b="1" dirty="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3"/>
          <p:cNvSpPr/>
          <p:nvPr/>
        </p:nvSpPr>
        <p:spPr>
          <a:xfrm>
            <a:off x="0" y="6615113"/>
            <a:ext cx="12192000" cy="2301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200" b="1">
                <a:solidFill>
                  <a:schemeClr val="lt1"/>
                </a:solidFill>
                <a:latin typeface="Calibri"/>
                <a:ea typeface="Calibri"/>
                <a:cs typeface="Calibri"/>
                <a:sym typeface="Calibri"/>
              </a:rPr>
              <a:t>SKIT, JAIPUR										                                              www.skit.ac.in</a:t>
            </a:r>
            <a:endParaRPr/>
          </a:p>
        </p:txBody>
      </p:sp>
      <p:pic>
        <p:nvPicPr>
          <p:cNvPr id="206" name="Google Shape;206;p23" descr="https://www.skit.ac.in/images/headers/skit_logo.png"/>
          <p:cNvPicPr preferRelativeResize="0"/>
          <p:nvPr/>
        </p:nvPicPr>
        <p:blipFill rotWithShape="1">
          <a:blip r:embed="rId3">
            <a:alphaModFix/>
          </a:blip>
          <a:srcRect/>
          <a:stretch/>
        </p:blipFill>
        <p:spPr>
          <a:xfrm>
            <a:off x="353473" y="174676"/>
            <a:ext cx="1133475" cy="1200150"/>
          </a:xfrm>
          <a:prstGeom prst="rect">
            <a:avLst/>
          </a:prstGeom>
          <a:noFill/>
          <a:ln>
            <a:noFill/>
          </a:ln>
        </p:spPr>
      </p:pic>
      <p:sp>
        <p:nvSpPr>
          <p:cNvPr id="207" name="Google Shape;207;p23"/>
          <p:cNvSpPr txBox="1"/>
          <p:nvPr/>
        </p:nvSpPr>
        <p:spPr>
          <a:xfrm>
            <a:off x="4790661" y="2355573"/>
            <a:ext cx="2753139"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rgbClr val="C00000"/>
                </a:solidFill>
                <a:latin typeface="Arial"/>
                <a:ea typeface="Arial"/>
                <a:cs typeface="Arial"/>
                <a:sym typeface="Arial"/>
              </a:rPr>
              <a:t>Q &amp; A </a:t>
            </a:r>
            <a:endParaRPr sz="7200" b="1">
              <a:solidFill>
                <a:srgbClr val="C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4"/>
          <p:cNvSpPr/>
          <p:nvPr/>
        </p:nvSpPr>
        <p:spPr>
          <a:xfrm>
            <a:off x="0" y="6615113"/>
            <a:ext cx="12192000" cy="2301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200" b="1">
                <a:solidFill>
                  <a:schemeClr val="lt1"/>
                </a:solidFill>
                <a:latin typeface="Calibri"/>
                <a:ea typeface="Calibri"/>
                <a:cs typeface="Calibri"/>
                <a:sym typeface="Calibri"/>
              </a:rPr>
              <a:t>SKIT, JAIPUR										                                              www.skit.ac.in</a:t>
            </a:r>
            <a:endParaRPr/>
          </a:p>
        </p:txBody>
      </p:sp>
      <p:pic>
        <p:nvPicPr>
          <p:cNvPr id="213" name="Google Shape;213;p24" descr="https://www.skit.ac.in/images/headers/skit_logo.png"/>
          <p:cNvPicPr preferRelativeResize="0"/>
          <p:nvPr/>
        </p:nvPicPr>
        <p:blipFill rotWithShape="1">
          <a:blip r:embed="rId3">
            <a:alphaModFix/>
          </a:blip>
          <a:srcRect/>
          <a:stretch/>
        </p:blipFill>
        <p:spPr>
          <a:xfrm>
            <a:off x="353473" y="174676"/>
            <a:ext cx="1133475" cy="1200150"/>
          </a:xfrm>
          <a:prstGeom prst="rect">
            <a:avLst/>
          </a:prstGeom>
          <a:noFill/>
          <a:ln>
            <a:noFill/>
          </a:ln>
        </p:spPr>
      </p:pic>
      <p:sp>
        <p:nvSpPr>
          <p:cNvPr id="214" name="Google Shape;214;p24"/>
          <p:cNvSpPr txBox="1"/>
          <p:nvPr/>
        </p:nvSpPr>
        <p:spPr>
          <a:xfrm>
            <a:off x="3503850" y="2828700"/>
            <a:ext cx="51843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a:t>Thank You</a:t>
            </a:r>
            <a:endParaRPr sz="72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736</Words>
  <Application>Microsoft Office PowerPoint</Application>
  <PresentationFormat>Widescreen</PresentationFormat>
  <Paragraphs>85</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Times New Roman</vt:lpstr>
      <vt:lpstr>Calibri</vt:lpstr>
      <vt:lpstr>Arial</vt:lpstr>
      <vt:lpstr>Arial Black</vt:lpstr>
      <vt:lpstr>Comfortaa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Subodh Srivastava</dc:creator>
  <cp:lastModifiedBy>kartev vashisth</cp:lastModifiedBy>
  <cp:revision>3</cp:revision>
  <dcterms:created xsi:type="dcterms:W3CDTF">2022-05-04T15:19:53Z</dcterms:created>
  <dcterms:modified xsi:type="dcterms:W3CDTF">2026-10-10T08:31:09Z</dcterms:modified>
</cp:coreProperties>
</file>